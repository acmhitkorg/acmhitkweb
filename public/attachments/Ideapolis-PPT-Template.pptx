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Garet Bold" panose="020B0604020202020204" charset="0"/>
      <p:regular r:id="rId11"/>
    </p:embeddedFont>
    <p:embeddedFont>
      <p:font typeface="Mont Bold" panose="020B0604020202020204" charset="0"/>
      <p:regular r:id="rId12"/>
    </p:embeddedFont>
    <p:embeddedFont>
      <p:font typeface="Tallow Regular" panose="020B0604020202020204" charset="0"/>
      <p:regular r:id="rId13"/>
    </p:embeddedFont>
    <p:embeddedFont>
      <p:font typeface="Tallow Sans Brush" panose="020B0604020202020204" charset="0"/>
      <p:regular r:id="rId14"/>
    </p:embeddedFont>
    <p:embeddedFont>
      <p:font typeface="Times New Roman Bold" panose="02020803070505020304" pitchFamily="18" charset="0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6247" autoAdjust="0"/>
  </p:normalViewPr>
  <p:slideViewPr>
    <p:cSldViewPr>
      <p:cViewPr varScale="1">
        <p:scale>
          <a:sx n="74" d="100"/>
          <a:sy n="74" d="100"/>
        </p:scale>
        <p:origin x="53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689A3C-DA83-4A57-A658-791E8176E0CB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74A406-5087-4B87-BE6B-F9F165BA4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5625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74A406-5087-4B87-BE6B-F9F165BA4B6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868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hyperlink" Target="https://heritageit.edu/" TargetMode="External"/><Relationship Id="rId4" Type="http://schemas.openxmlformats.org/officeDocument/2006/relationships/image" Target="../media/image2.svg"/><Relationship Id="rId9" Type="http://schemas.openxmlformats.org/officeDocument/2006/relationships/hyperlink" Target="https://hitk.acm.org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hitk.acm.org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hyperlink" Target="https://heritageit.edu/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hitk.acm.org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hyperlink" Target="https://heritageit.edu/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hitk.acm.org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9.png"/><Relationship Id="rId4" Type="http://schemas.openxmlformats.org/officeDocument/2006/relationships/image" Target="../media/image2.svg"/><Relationship Id="rId9" Type="http://schemas.openxmlformats.org/officeDocument/2006/relationships/hyperlink" Target="https://heritageit.edu/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hitk.acm.org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0.png"/><Relationship Id="rId4" Type="http://schemas.openxmlformats.org/officeDocument/2006/relationships/image" Target="../media/image2.svg"/><Relationship Id="rId9" Type="http://schemas.openxmlformats.org/officeDocument/2006/relationships/hyperlink" Target="https://heritageit.edu/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hitk.acm.org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2.svg"/><Relationship Id="rId5" Type="http://schemas.openxmlformats.org/officeDocument/2006/relationships/image" Target="../media/image3.png"/><Relationship Id="rId10" Type="http://schemas.openxmlformats.org/officeDocument/2006/relationships/image" Target="../media/image11.png"/><Relationship Id="rId4" Type="http://schemas.openxmlformats.org/officeDocument/2006/relationships/image" Target="../media/image2.svg"/><Relationship Id="rId9" Type="http://schemas.openxmlformats.org/officeDocument/2006/relationships/hyperlink" Target="https://heritageit.edu/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5.png"/><Relationship Id="rId7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11" Type="http://schemas.openxmlformats.org/officeDocument/2006/relationships/hyperlink" Target="https://heritageit.edu/" TargetMode="External"/><Relationship Id="rId5" Type="http://schemas.openxmlformats.org/officeDocument/2006/relationships/image" Target="../media/image13.png"/><Relationship Id="rId10" Type="http://schemas.openxmlformats.org/officeDocument/2006/relationships/hyperlink" Target="https://hitk.acm.org" TargetMode="External"/><Relationship Id="rId4" Type="http://schemas.openxmlformats.org/officeDocument/2006/relationships/image" Target="../media/image6.png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10" Type="http://schemas.openxmlformats.org/officeDocument/2006/relationships/hyperlink" Target="https://heritageit.edu/" TargetMode="External"/><Relationship Id="rId4" Type="http://schemas.openxmlformats.org/officeDocument/2006/relationships/image" Target="../media/image6.png"/><Relationship Id="rId9" Type="http://schemas.openxmlformats.org/officeDocument/2006/relationships/hyperlink" Target="https://hitk.acm.or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Grp="1" noUngrp="1" noRot="1" noMove="1" noResize="1"/>
          </p:cNvGrpSpPr>
          <p:nvPr/>
        </p:nvGrpSpPr>
        <p:grpSpPr>
          <a:xfrm>
            <a:off x="5600409" y="247730"/>
            <a:ext cx="7142126" cy="2755719"/>
            <a:chOff x="348943" y="275508"/>
            <a:chExt cx="9522834" cy="3674293"/>
          </a:xfrm>
        </p:grpSpPr>
        <p:sp>
          <p:nvSpPr>
            <p:cNvPr id="3" name="Freeform 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318876">
              <a:off x="8047816" y="1939885"/>
              <a:ext cx="1823961" cy="1827283"/>
            </a:xfrm>
            <a:custGeom>
              <a:avLst/>
              <a:gdLst/>
              <a:ahLst/>
              <a:cxnLst/>
              <a:rect l="l" t="t" r="r" b="b"/>
              <a:pathLst>
                <a:path w="1823961" h="1827283">
                  <a:moveTo>
                    <a:pt x="0" y="0"/>
                  </a:moveTo>
                  <a:lnTo>
                    <a:pt x="1823961" y="0"/>
                  </a:lnTo>
                  <a:lnTo>
                    <a:pt x="1823961" y="1827283"/>
                  </a:lnTo>
                  <a:lnTo>
                    <a:pt x="0" y="1827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Freeform 4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1050320">
              <a:off x="348943" y="275508"/>
              <a:ext cx="2242235" cy="2665362"/>
            </a:xfrm>
            <a:custGeom>
              <a:avLst/>
              <a:gdLst/>
              <a:ahLst/>
              <a:cxnLst/>
              <a:rect l="l" t="t" r="r" b="b"/>
              <a:pathLst>
                <a:path w="2242235" h="2665362">
                  <a:moveTo>
                    <a:pt x="0" y="0"/>
                  </a:moveTo>
                  <a:lnTo>
                    <a:pt x="2242236" y="0"/>
                  </a:lnTo>
                  <a:lnTo>
                    <a:pt x="2242236" y="2665362"/>
                  </a:lnTo>
                  <a:lnTo>
                    <a:pt x="0" y="26653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05478" y="653944"/>
              <a:ext cx="8806311" cy="30948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141"/>
                </a:lnSpc>
                <a:spcBef>
                  <a:spcPct val="0"/>
                </a:spcBef>
              </a:pPr>
              <a:r>
                <a:rPr lang="en-US" sz="16025" dirty="0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100000">
                        <a:srgbClr val="32ACC7">
                          <a:alpha val="100000"/>
                        </a:srgbClr>
                      </a:gs>
                    </a:gsLst>
                    <a:lin ang="5400000"/>
                  </a:gradFill>
                  <a:latin typeface="Tallow Sans Brush"/>
                  <a:ea typeface="Tallow Sans Brush"/>
                  <a:cs typeface="Tallow Sans Brush"/>
                  <a:sym typeface="Tallow Sans Brush"/>
                </a:rPr>
                <a:t>IDEAPOLIS</a:t>
              </a:r>
            </a:p>
          </p:txBody>
        </p:sp>
        <p:sp>
          <p:nvSpPr>
            <p:cNvPr id="6" name="TextBox 6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843788" y="3225025"/>
              <a:ext cx="6404351" cy="7247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87"/>
                </a:lnSpc>
                <a:spcBef>
                  <a:spcPct val="0"/>
                </a:spcBef>
              </a:pPr>
              <a:r>
                <a:rPr lang="en-US" sz="3205" spc="532" dirty="0">
                  <a:gradFill>
                    <a:gsLst>
                      <a:gs pos="0">
                        <a:srgbClr val="32ACC7">
                          <a:alpha val="100000"/>
                        </a:srgbClr>
                      </a:gs>
                      <a:gs pos="100000">
                        <a:srgbClr val="000000">
                          <a:alpha val="100000"/>
                        </a:srgbClr>
                      </a:gs>
                    </a:gsLst>
                    <a:lin ang="5400000"/>
                  </a:gradFill>
                  <a:latin typeface="Tallow Regular"/>
                  <a:ea typeface="Tallow Regular"/>
                  <a:cs typeface="Tallow Regular"/>
                  <a:sym typeface="Tallow Regular"/>
                </a:rPr>
                <a:t>IDEATE, ITERATE, INNOVATE</a:t>
              </a:r>
            </a:p>
          </p:txBody>
        </p:sp>
      </p:grpSp>
      <p:grpSp>
        <p:nvGrpSpPr>
          <p:cNvPr id="7" name="Group 7"/>
          <p:cNvGrpSpPr>
            <a:grpSpLocks noGrp="1" noUngrp="1" noRot="1" noMove="1" noResize="1"/>
          </p:cNvGrpSpPr>
          <p:nvPr/>
        </p:nvGrpSpPr>
        <p:grpSpPr>
          <a:xfrm>
            <a:off x="0" y="95250"/>
            <a:ext cx="18222814" cy="1347637"/>
            <a:chOff x="0" y="0"/>
            <a:chExt cx="24297086" cy="1796849"/>
          </a:xfrm>
        </p:grpSpPr>
        <p:sp>
          <p:nvSpPr>
            <p:cNvPr id="8" name="Freeform 8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748690" y="0"/>
              <a:ext cx="1548396" cy="1687785"/>
            </a:xfrm>
            <a:custGeom>
              <a:avLst/>
              <a:gdLst/>
              <a:ahLst/>
              <a:cxnLst/>
              <a:rect l="l" t="t" r="r" b="b"/>
              <a:pathLst>
                <a:path w="1548396" h="1687785">
                  <a:moveTo>
                    <a:pt x="0" y="0"/>
                  </a:moveTo>
                  <a:lnTo>
                    <a:pt x="1548396" y="0"/>
                  </a:lnTo>
                  <a:lnTo>
                    <a:pt x="1548396" y="1687785"/>
                  </a:lnTo>
                  <a:lnTo>
                    <a:pt x="0" y="1687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969" r="-4969" b="-859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630716" y="305776"/>
              <a:ext cx="4907117" cy="400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4"/>
                </a:lnSpc>
              </a:pPr>
              <a:r>
                <a:rPr lang="en-US" sz="2062" b="1" spc="-117" dirty="0">
                  <a:solidFill>
                    <a:srgbClr val="004AAD"/>
                  </a:solidFill>
                  <a:latin typeface="Mont Bold"/>
                  <a:ea typeface="Mont Bold"/>
                  <a:cs typeface="Mont Bold"/>
                  <a:sym typeface="Mont Bold"/>
                </a:rPr>
                <a:t>ACM HITK STUDENT CHAPTER</a:t>
              </a:r>
            </a:p>
          </p:txBody>
        </p:sp>
        <p:sp>
          <p:nvSpPr>
            <p:cNvPr id="10" name="TextBox 10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735916" y="781842"/>
              <a:ext cx="4696719" cy="5334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602"/>
                </a:lnSpc>
                <a:spcBef>
                  <a:spcPct val="0"/>
                </a:spcBef>
              </a:pPr>
              <a:r>
                <a:rPr lang="en-US" sz="1415" b="1" dirty="0">
                  <a:solidFill>
                    <a:srgbClr val="004AA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Association of Computing Machinery</a:t>
              </a:r>
            </a:p>
            <a:p>
              <a:pPr marL="0" lvl="0" indent="0" algn="ctr">
                <a:lnSpc>
                  <a:spcPts val="1602"/>
                </a:lnSpc>
                <a:spcBef>
                  <a:spcPct val="0"/>
                </a:spcBef>
              </a:pPr>
              <a:r>
                <a:rPr lang="en-US" sz="1415" b="1" u="none" strike="noStrike" dirty="0">
                  <a:solidFill>
                    <a:srgbClr val="004AA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Heritage Institute of Technology</a:t>
              </a:r>
            </a:p>
          </p:txBody>
        </p:sp>
        <p:sp>
          <p:nvSpPr>
            <p:cNvPr id="11" name="AutoShape 1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640977" y="0"/>
              <a:ext cx="0" cy="1687785"/>
            </a:xfrm>
            <a:prstGeom prst="line">
              <a:avLst/>
            </a:prstGeom>
            <a:ln w="25170" cap="flat">
              <a:solidFill>
                <a:srgbClr val="004AA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877728" cy="1796849"/>
            </a:xfrm>
            <a:custGeom>
              <a:avLst/>
              <a:gdLst/>
              <a:ahLst/>
              <a:cxnLst/>
              <a:rect l="l" t="t" r="r" b="b"/>
              <a:pathLst>
                <a:path w="1877728" h="1796849">
                  <a:moveTo>
                    <a:pt x="0" y="0"/>
                  </a:moveTo>
                  <a:lnTo>
                    <a:pt x="1877728" y="0"/>
                  </a:lnTo>
                  <a:lnTo>
                    <a:pt x="1877728" y="1796849"/>
                  </a:lnTo>
                  <a:lnTo>
                    <a:pt x="0" y="17968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6" t="-1707" b="-11319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13" name="Freeform 1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14966" y="3540173"/>
            <a:ext cx="5244334" cy="4451555"/>
          </a:xfrm>
          <a:custGeom>
            <a:avLst/>
            <a:gdLst/>
            <a:ahLst/>
            <a:cxnLst/>
            <a:rect l="l" t="t" r="r" b="b"/>
            <a:pathLst>
              <a:path w="5244334" h="4451555">
                <a:moveTo>
                  <a:pt x="0" y="0"/>
                </a:moveTo>
                <a:lnTo>
                  <a:pt x="5244334" y="0"/>
                </a:lnTo>
                <a:lnTo>
                  <a:pt x="5244334" y="4451555"/>
                </a:lnTo>
                <a:lnTo>
                  <a:pt x="0" y="445155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8801" t="-15293" r="-9001" b="-23489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4" name="TextBox 14"/>
          <p:cNvSpPr txBox="1"/>
          <p:nvPr/>
        </p:nvSpPr>
        <p:spPr>
          <a:xfrm>
            <a:off x="874190" y="3671964"/>
            <a:ext cx="8929024" cy="4232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0"/>
              </a:lnSpc>
            </a:pPr>
            <a:r>
              <a:rPr lang="en-US" sz="369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Name: </a:t>
            </a:r>
          </a:p>
          <a:p>
            <a:pPr algn="l">
              <a:lnSpc>
                <a:spcPts val="4180"/>
              </a:lnSpc>
            </a:pPr>
            <a:endParaRPr lang="en-US" sz="3693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4180"/>
              </a:lnSpc>
            </a:pPr>
            <a:r>
              <a:rPr lang="en-US" sz="369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Description (One line): </a:t>
            </a:r>
          </a:p>
          <a:p>
            <a:pPr algn="l">
              <a:lnSpc>
                <a:spcPts val="4180"/>
              </a:lnSpc>
            </a:pPr>
            <a:endParaRPr lang="en-US" sz="3693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4180"/>
              </a:lnSpc>
            </a:pPr>
            <a:endParaRPr lang="en-US" sz="3693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4180"/>
              </a:lnSpc>
            </a:pPr>
            <a:r>
              <a:rPr lang="en-US" sz="369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Domain: </a:t>
            </a:r>
          </a:p>
          <a:p>
            <a:pPr algn="l">
              <a:lnSpc>
                <a:spcPts val="4180"/>
              </a:lnSpc>
            </a:pPr>
            <a:endParaRPr lang="en-US" sz="3693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4180"/>
              </a:lnSpc>
            </a:pPr>
            <a:r>
              <a:rPr lang="en-US" sz="369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Name: </a:t>
            </a:r>
          </a:p>
        </p:txBody>
      </p:sp>
      <p:grpSp>
        <p:nvGrpSpPr>
          <p:cNvPr id="15" name="Group 15"/>
          <p:cNvGrpSpPr>
            <a:grpSpLocks noGrp="1" noUngrp="1" noRot="1" noMove="1" noResize="1"/>
          </p:cNvGrpSpPr>
          <p:nvPr/>
        </p:nvGrpSpPr>
        <p:grpSpPr>
          <a:xfrm>
            <a:off x="0" y="9588683"/>
            <a:ext cx="18288000" cy="698318"/>
            <a:chOff x="0" y="0"/>
            <a:chExt cx="24858955" cy="1590129"/>
          </a:xfrm>
        </p:grpSpPr>
        <p:grpSp>
          <p:nvGrpSpPr>
            <p:cNvPr id="16" name="Group 16"/>
            <p:cNvGrpSpPr>
              <a:grpSpLocks noGrp="1" noUngrp="1" noRot="1" noMove="1" noResize="1"/>
            </p:cNvGrpSpPr>
            <p:nvPr/>
          </p:nvGrpSpPr>
          <p:grpSpPr>
            <a:xfrm>
              <a:off x="0" y="0"/>
              <a:ext cx="24858955" cy="1590129"/>
              <a:chOff x="0" y="0"/>
              <a:chExt cx="3836258" cy="245390"/>
            </a:xfrm>
          </p:grpSpPr>
          <p:sp>
            <p:nvSpPr>
              <p:cNvPr id="17" name="Freeform 17"/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0"/>
                <a:ext cx="3836258" cy="245390"/>
              </a:xfrm>
              <a:custGeom>
                <a:avLst/>
                <a:gdLst/>
                <a:ahLst/>
                <a:cxnLst/>
                <a:rect l="l" t="t" r="r" b="b"/>
                <a:pathLst>
                  <a:path w="3836258" h="245390">
                    <a:moveTo>
                      <a:pt x="8110" y="0"/>
                    </a:moveTo>
                    <a:lnTo>
                      <a:pt x="3828148" y="0"/>
                    </a:lnTo>
                    <a:cubicBezTo>
                      <a:pt x="3830299" y="0"/>
                      <a:pt x="3832362" y="854"/>
                      <a:pt x="3833883" y="2375"/>
                    </a:cubicBezTo>
                    <a:cubicBezTo>
                      <a:pt x="3835404" y="3896"/>
                      <a:pt x="3836258" y="5959"/>
                      <a:pt x="3836258" y="8110"/>
                    </a:cubicBezTo>
                    <a:lnTo>
                      <a:pt x="3836258" y="237280"/>
                    </a:lnTo>
                    <a:cubicBezTo>
                      <a:pt x="3836258" y="239431"/>
                      <a:pt x="3835404" y="241494"/>
                      <a:pt x="3833883" y="243015"/>
                    </a:cubicBezTo>
                    <a:cubicBezTo>
                      <a:pt x="3832362" y="244536"/>
                      <a:pt x="3830299" y="245390"/>
                      <a:pt x="3828148" y="245390"/>
                    </a:cubicBezTo>
                    <a:lnTo>
                      <a:pt x="8110" y="245390"/>
                    </a:lnTo>
                    <a:cubicBezTo>
                      <a:pt x="5959" y="245390"/>
                      <a:pt x="3896" y="244536"/>
                      <a:pt x="2375" y="243015"/>
                    </a:cubicBezTo>
                    <a:cubicBezTo>
                      <a:pt x="854" y="241494"/>
                      <a:pt x="0" y="239431"/>
                      <a:pt x="0" y="237280"/>
                    </a:cubicBezTo>
                    <a:lnTo>
                      <a:pt x="0" y="8110"/>
                    </a:lnTo>
                    <a:cubicBezTo>
                      <a:pt x="0" y="5959"/>
                      <a:pt x="854" y="3896"/>
                      <a:pt x="2375" y="2375"/>
                    </a:cubicBezTo>
                    <a:cubicBezTo>
                      <a:pt x="3896" y="854"/>
                      <a:pt x="5959" y="0"/>
                      <a:pt x="8110" y="0"/>
                    </a:cubicBezTo>
                    <a:close/>
                  </a:path>
                </a:pathLst>
              </a:custGeom>
              <a:solidFill>
                <a:srgbClr val="ABD6F0"/>
              </a:solidFill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18" name="TextBox 18"/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0"/>
                <a:ext cx="3836258" cy="2453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02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66988" y="310230"/>
              <a:ext cx="3924979" cy="7884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16"/>
                </a:lnSpc>
              </a:pPr>
              <a:r>
                <a:rPr lang="en-US" sz="2400" b="1" u="sng" dirty="0">
                  <a:solidFill>
                    <a:srgbClr val="00206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  <a:hlinkClick r:id="rId9" tooltip="https://hitk.acm.org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https://hitk.acm.org/</a:t>
              </a:r>
            </a:p>
          </p:txBody>
        </p:sp>
        <p:sp>
          <p:nvSpPr>
            <p:cNvPr id="20" name="TextBox 20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389862" y="300111"/>
              <a:ext cx="2103289" cy="4848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16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Page | 1</a:t>
              </a:r>
            </a:p>
          </p:txBody>
        </p:sp>
        <p:sp>
          <p:nvSpPr>
            <p:cNvPr id="21" name="TextBox 21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5804" y="310230"/>
              <a:ext cx="5746980" cy="7884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16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  <a:hlinkClick r:id="rId10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Heritage Institute of Technology</a:t>
              </a:r>
              <a:endParaRPr lang="en-US" sz="2400" b="1" dirty="0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Grp="1" noUngrp="1" noRot="1" noMove="1" noResize="1"/>
          </p:cNvGrpSpPr>
          <p:nvPr/>
        </p:nvGrpSpPr>
        <p:grpSpPr>
          <a:xfrm>
            <a:off x="5338702" y="-190500"/>
            <a:ext cx="7610596" cy="3031582"/>
            <a:chOff x="0" y="0"/>
            <a:chExt cx="10147461" cy="4042110"/>
          </a:xfrm>
        </p:grpSpPr>
        <p:sp>
          <p:nvSpPr>
            <p:cNvPr id="3" name="Freeform 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318876">
              <a:off x="8047816" y="1939885"/>
              <a:ext cx="1823961" cy="1827283"/>
            </a:xfrm>
            <a:custGeom>
              <a:avLst/>
              <a:gdLst/>
              <a:ahLst/>
              <a:cxnLst/>
              <a:rect l="l" t="t" r="r" b="b"/>
              <a:pathLst>
                <a:path w="1823961" h="1827283">
                  <a:moveTo>
                    <a:pt x="0" y="0"/>
                  </a:moveTo>
                  <a:lnTo>
                    <a:pt x="1823961" y="0"/>
                  </a:lnTo>
                  <a:lnTo>
                    <a:pt x="1823961" y="1827283"/>
                  </a:lnTo>
                  <a:lnTo>
                    <a:pt x="0" y="1827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Freeform 4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1050320">
              <a:off x="348943" y="275508"/>
              <a:ext cx="2242235" cy="2665362"/>
            </a:xfrm>
            <a:custGeom>
              <a:avLst/>
              <a:gdLst/>
              <a:ahLst/>
              <a:cxnLst/>
              <a:rect l="l" t="t" r="r" b="b"/>
              <a:pathLst>
                <a:path w="2242235" h="2665362">
                  <a:moveTo>
                    <a:pt x="0" y="0"/>
                  </a:moveTo>
                  <a:lnTo>
                    <a:pt x="2242236" y="0"/>
                  </a:lnTo>
                  <a:lnTo>
                    <a:pt x="2242236" y="2665362"/>
                  </a:lnTo>
                  <a:lnTo>
                    <a:pt x="0" y="26653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05477" y="653944"/>
              <a:ext cx="8806312" cy="32061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141"/>
                </a:lnSpc>
                <a:spcBef>
                  <a:spcPct val="0"/>
                </a:spcBef>
              </a:pPr>
              <a:r>
                <a:rPr lang="en-US" sz="16025" dirty="0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100000">
                        <a:srgbClr val="32ACC7">
                          <a:alpha val="100000"/>
                        </a:srgbClr>
                      </a:gs>
                    </a:gsLst>
                    <a:lin ang="5400000"/>
                  </a:gradFill>
                  <a:latin typeface="Tallow Sans Brush"/>
                  <a:ea typeface="Tallow Sans Brush"/>
                  <a:cs typeface="Tallow Sans Brush"/>
                  <a:sym typeface="Tallow Sans Brush"/>
                </a:rPr>
                <a:t>IDEAPOLIS</a:t>
              </a:r>
            </a:p>
          </p:txBody>
        </p:sp>
        <p:sp>
          <p:nvSpPr>
            <p:cNvPr id="6" name="TextBox 6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843788" y="3225025"/>
              <a:ext cx="6404351" cy="7247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87"/>
                </a:lnSpc>
                <a:spcBef>
                  <a:spcPct val="0"/>
                </a:spcBef>
              </a:pPr>
              <a:r>
                <a:rPr lang="en-US" sz="3205" spc="532" dirty="0">
                  <a:gradFill>
                    <a:gsLst>
                      <a:gs pos="0">
                        <a:srgbClr val="32ACC7">
                          <a:alpha val="100000"/>
                        </a:srgbClr>
                      </a:gs>
                      <a:gs pos="100000">
                        <a:srgbClr val="000000">
                          <a:alpha val="100000"/>
                        </a:srgbClr>
                      </a:gs>
                    </a:gsLst>
                    <a:lin ang="5400000"/>
                  </a:gradFill>
                  <a:latin typeface="Tallow Regular"/>
                  <a:ea typeface="Tallow Regular"/>
                  <a:cs typeface="Tallow Regular"/>
                  <a:sym typeface="Tallow Regular"/>
                </a:rPr>
                <a:t>IDEATE, ITERATE, INNOVATE</a:t>
              </a:r>
            </a:p>
          </p:txBody>
        </p:sp>
      </p:grpSp>
      <p:grpSp>
        <p:nvGrpSpPr>
          <p:cNvPr id="7" name="Group 7"/>
          <p:cNvGrpSpPr>
            <a:grpSpLocks noGrp="1" noUngrp="1" noRot="1" noMove="1" noResize="1"/>
          </p:cNvGrpSpPr>
          <p:nvPr/>
        </p:nvGrpSpPr>
        <p:grpSpPr>
          <a:xfrm>
            <a:off x="0" y="95250"/>
            <a:ext cx="18222814" cy="1347637"/>
            <a:chOff x="0" y="0"/>
            <a:chExt cx="24297086" cy="1796849"/>
          </a:xfrm>
        </p:grpSpPr>
        <p:sp>
          <p:nvSpPr>
            <p:cNvPr id="8" name="Freeform 8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748690" y="0"/>
              <a:ext cx="1548396" cy="1687785"/>
            </a:xfrm>
            <a:custGeom>
              <a:avLst/>
              <a:gdLst/>
              <a:ahLst/>
              <a:cxnLst/>
              <a:rect l="l" t="t" r="r" b="b"/>
              <a:pathLst>
                <a:path w="1548396" h="1687785">
                  <a:moveTo>
                    <a:pt x="0" y="0"/>
                  </a:moveTo>
                  <a:lnTo>
                    <a:pt x="1548396" y="0"/>
                  </a:lnTo>
                  <a:lnTo>
                    <a:pt x="1548396" y="1687785"/>
                  </a:lnTo>
                  <a:lnTo>
                    <a:pt x="0" y="1687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969" r="-4969" b="-859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630716" y="305776"/>
              <a:ext cx="4907117" cy="400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4"/>
                </a:lnSpc>
              </a:pPr>
              <a:r>
                <a:rPr lang="en-US" sz="2062" b="1" spc="-117" dirty="0">
                  <a:solidFill>
                    <a:srgbClr val="004AAD"/>
                  </a:solidFill>
                  <a:latin typeface="Mont Bold"/>
                  <a:ea typeface="Mont Bold"/>
                  <a:cs typeface="Mont Bold"/>
                  <a:sym typeface="Mont Bold"/>
                </a:rPr>
                <a:t>ACM HITK STUDENT CHAPTER</a:t>
              </a:r>
            </a:p>
          </p:txBody>
        </p:sp>
        <p:sp>
          <p:nvSpPr>
            <p:cNvPr id="10" name="TextBox 10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735916" y="781842"/>
              <a:ext cx="4696719" cy="5334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602"/>
                </a:lnSpc>
                <a:spcBef>
                  <a:spcPct val="0"/>
                </a:spcBef>
              </a:pPr>
              <a:r>
                <a:rPr lang="en-US" sz="1415" b="1" dirty="0">
                  <a:solidFill>
                    <a:srgbClr val="004AA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Association of Computing Machinery</a:t>
              </a:r>
            </a:p>
            <a:p>
              <a:pPr marL="0" lvl="0" indent="0" algn="ctr">
                <a:lnSpc>
                  <a:spcPts val="1602"/>
                </a:lnSpc>
                <a:spcBef>
                  <a:spcPct val="0"/>
                </a:spcBef>
              </a:pPr>
              <a:r>
                <a:rPr lang="en-US" sz="1415" b="1" u="none" strike="noStrike" dirty="0">
                  <a:solidFill>
                    <a:srgbClr val="004AA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Heritage Institute of Technology</a:t>
              </a:r>
            </a:p>
          </p:txBody>
        </p:sp>
        <p:sp>
          <p:nvSpPr>
            <p:cNvPr id="11" name="AutoShape 1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640977" y="0"/>
              <a:ext cx="0" cy="1687785"/>
            </a:xfrm>
            <a:prstGeom prst="line">
              <a:avLst/>
            </a:prstGeom>
            <a:ln w="25170" cap="flat">
              <a:solidFill>
                <a:srgbClr val="004AA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877728" cy="1796849"/>
            </a:xfrm>
            <a:custGeom>
              <a:avLst/>
              <a:gdLst/>
              <a:ahLst/>
              <a:cxnLst/>
              <a:rect l="l" t="t" r="r" b="b"/>
              <a:pathLst>
                <a:path w="1877728" h="1796849">
                  <a:moveTo>
                    <a:pt x="0" y="0"/>
                  </a:moveTo>
                  <a:lnTo>
                    <a:pt x="1877728" y="0"/>
                  </a:lnTo>
                  <a:lnTo>
                    <a:pt x="1877728" y="1796849"/>
                  </a:lnTo>
                  <a:lnTo>
                    <a:pt x="0" y="17968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6" t="-1707" b="-1131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1" name="Freeform 21"/>
          <p:cNvSpPr/>
          <p:nvPr/>
        </p:nvSpPr>
        <p:spPr>
          <a:xfrm>
            <a:off x="13308357" y="2548620"/>
            <a:ext cx="5740587" cy="8627096"/>
          </a:xfrm>
          <a:custGeom>
            <a:avLst/>
            <a:gdLst/>
            <a:ahLst/>
            <a:cxnLst/>
            <a:rect l="l" t="t" r="r" b="b"/>
            <a:pathLst>
              <a:path w="5740587" h="8627096">
                <a:moveTo>
                  <a:pt x="0" y="0"/>
                </a:moveTo>
                <a:lnTo>
                  <a:pt x="5740587" y="0"/>
                </a:lnTo>
                <a:lnTo>
                  <a:pt x="5740587" y="8627096"/>
                </a:lnTo>
                <a:lnTo>
                  <a:pt x="0" y="86270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TextBox 22"/>
          <p:cNvSpPr txBox="1"/>
          <p:nvPr/>
        </p:nvSpPr>
        <p:spPr>
          <a:xfrm>
            <a:off x="5060752" y="3075599"/>
            <a:ext cx="8166497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3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00000">
                    <a:alpha val="73725"/>
                  </a:srgb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&lt;teamName&gt; Members</a:t>
            </a:r>
          </a:p>
        </p:txBody>
      </p:sp>
      <p:grpSp>
        <p:nvGrpSpPr>
          <p:cNvPr id="23" name="Group 15">
            <a:extLst>
              <a:ext uri="{FF2B5EF4-FFF2-40B4-BE49-F238E27FC236}">
                <a16:creationId xmlns:a16="http://schemas.microsoft.com/office/drawing/2014/main" id="{A6ED1FA2-6564-064E-B87F-EA316A33946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9588683"/>
            <a:ext cx="18288000" cy="698318"/>
            <a:chOff x="0" y="0"/>
            <a:chExt cx="24858955" cy="1590129"/>
          </a:xfrm>
        </p:grpSpPr>
        <p:grpSp>
          <p:nvGrpSpPr>
            <p:cNvPr id="24" name="Group 16">
              <a:extLst>
                <a:ext uri="{FF2B5EF4-FFF2-40B4-BE49-F238E27FC236}">
                  <a16:creationId xmlns:a16="http://schemas.microsoft.com/office/drawing/2014/main" id="{2524D34E-487F-F25E-7615-3577FBBE2DF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0" y="0"/>
              <a:ext cx="24858955" cy="1590129"/>
              <a:chOff x="0" y="0"/>
              <a:chExt cx="3836258" cy="245390"/>
            </a:xfrm>
          </p:grpSpPr>
          <p:sp>
            <p:nvSpPr>
              <p:cNvPr id="28" name="Freeform 17">
                <a:extLst>
                  <a:ext uri="{FF2B5EF4-FFF2-40B4-BE49-F238E27FC236}">
                    <a16:creationId xmlns:a16="http://schemas.microsoft.com/office/drawing/2014/main" id="{DB2696A9-B82F-2D70-086E-17897E895F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0"/>
                <a:ext cx="3836258" cy="245390"/>
              </a:xfrm>
              <a:custGeom>
                <a:avLst/>
                <a:gdLst/>
                <a:ahLst/>
                <a:cxnLst/>
                <a:rect l="l" t="t" r="r" b="b"/>
                <a:pathLst>
                  <a:path w="3836258" h="245390">
                    <a:moveTo>
                      <a:pt x="8110" y="0"/>
                    </a:moveTo>
                    <a:lnTo>
                      <a:pt x="3828148" y="0"/>
                    </a:lnTo>
                    <a:cubicBezTo>
                      <a:pt x="3830299" y="0"/>
                      <a:pt x="3832362" y="854"/>
                      <a:pt x="3833883" y="2375"/>
                    </a:cubicBezTo>
                    <a:cubicBezTo>
                      <a:pt x="3835404" y="3896"/>
                      <a:pt x="3836258" y="5959"/>
                      <a:pt x="3836258" y="8110"/>
                    </a:cubicBezTo>
                    <a:lnTo>
                      <a:pt x="3836258" y="237280"/>
                    </a:lnTo>
                    <a:cubicBezTo>
                      <a:pt x="3836258" y="239431"/>
                      <a:pt x="3835404" y="241494"/>
                      <a:pt x="3833883" y="243015"/>
                    </a:cubicBezTo>
                    <a:cubicBezTo>
                      <a:pt x="3832362" y="244536"/>
                      <a:pt x="3830299" y="245390"/>
                      <a:pt x="3828148" y="245390"/>
                    </a:cubicBezTo>
                    <a:lnTo>
                      <a:pt x="8110" y="245390"/>
                    </a:lnTo>
                    <a:cubicBezTo>
                      <a:pt x="5959" y="245390"/>
                      <a:pt x="3896" y="244536"/>
                      <a:pt x="2375" y="243015"/>
                    </a:cubicBezTo>
                    <a:cubicBezTo>
                      <a:pt x="854" y="241494"/>
                      <a:pt x="0" y="239431"/>
                      <a:pt x="0" y="237280"/>
                    </a:cubicBezTo>
                    <a:lnTo>
                      <a:pt x="0" y="8110"/>
                    </a:lnTo>
                    <a:cubicBezTo>
                      <a:pt x="0" y="5959"/>
                      <a:pt x="854" y="3896"/>
                      <a:pt x="2375" y="2375"/>
                    </a:cubicBezTo>
                    <a:cubicBezTo>
                      <a:pt x="3896" y="854"/>
                      <a:pt x="5959" y="0"/>
                      <a:pt x="8110" y="0"/>
                    </a:cubicBezTo>
                    <a:close/>
                  </a:path>
                </a:pathLst>
              </a:custGeom>
              <a:solidFill>
                <a:srgbClr val="ABD6F0"/>
              </a:solidFill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29" name="TextBox 18">
                <a:extLst>
                  <a:ext uri="{FF2B5EF4-FFF2-40B4-BE49-F238E27FC236}">
                    <a16:creationId xmlns:a16="http://schemas.microsoft.com/office/drawing/2014/main" id="{8F2E6CD3-6F13-A86E-9204-DF2CE1B400FC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0"/>
                <a:ext cx="3836258" cy="2453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02"/>
                  </a:lnSpc>
                </a:pPr>
                <a:endParaRPr/>
              </a:p>
            </p:txBody>
          </p:sp>
        </p:grpSp>
        <p:sp>
          <p:nvSpPr>
            <p:cNvPr id="25" name="TextBox 19">
              <a:extLst>
                <a:ext uri="{FF2B5EF4-FFF2-40B4-BE49-F238E27FC236}">
                  <a16:creationId xmlns:a16="http://schemas.microsoft.com/office/drawing/2014/main" id="{AA44D5D4-415A-999D-A9FF-BA4878D05EA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66988" y="310230"/>
              <a:ext cx="3924979" cy="7884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16"/>
                </a:lnSpc>
              </a:pPr>
              <a:r>
                <a:rPr lang="en-US" sz="2400" b="1" u="sng" dirty="0">
                  <a:solidFill>
                    <a:srgbClr val="00206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  <a:hlinkClick r:id="rId8" tooltip="https://hitk.acm.org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https://hitk.acm.org/</a:t>
              </a:r>
            </a:p>
          </p:txBody>
        </p:sp>
        <p:sp>
          <p:nvSpPr>
            <p:cNvPr id="26" name="TextBox 20">
              <a:extLst>
                <a:ext uri="{FF2B5EF4-FFF2-40B4-BE49-F238E27FC236}">
                  <a16:creationId xmlns:a16="http://schemas.microsoft.com/office/drawing/2014/main" id="{236799A3-3DDC-F029-3B67-0544374252B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389862" y="300111"/>
              <a:ext cx="2103289" cy="7884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16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Page | 2</a:t>
              </a:r>
            </a:p>
          </p:txBody>
        </p:sp>
        <p:sp>
          <p:nvSpPr>
            <p:cNvPr id="27" name="TextBox 21">
              <a:extLst>
                <a:ext uri="{FF2B5EF4-FFF2-40B4-BE49-F238E27FC236}">
                  <a16:creationId xmlns:a16="http://schemas.microsoft.com/office/drawing/2014/main" id="{D3402531-6E2E-1A30-0C0E-B673AC4064B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5804" y="310230"/>
              <a:ext cx="5746980" cy="7884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16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  <a:hlinkClick r:id="rId9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Heritage Institute of Technology</a:t>
              </a:r>
              <a:endParaRPr lang="en-US" sz="2400" b="1" dirty="0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4C195023-0D2F-23AA-0A55-60E4FC2F0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907136"/>
              </p:ext>
            </p:extLst>
          </p:nvPr>
        </p:nvGraphicFramePr>
        <p:xfrm>
          <a:off x="704148" y="4447949"/>
          <a:ext cx="12812077" cy="3940675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2647432">
                  <a:extLst>
                    <a:ext uri="{9D8B030D-6E8A-4147-A177-3AD203B41FA5}">
                      <a16:colId xmlns:a16="http://schemas.microsoft.com/office/drawing/2014/main" val="2144449226"/>
                    </a:ext>
                  </a:extLst>
                </a:gridCol>
                <a:gridCol w="3683472">
                  <a:extLst>
                    <a:ext uri="{9D8B030D-6E8A-4147-A177-3AD203B41FA5}">
                      <a16:colId xmlns:a16="http://schemas.microsoft.com/office/drawing/2014/main" val="208312402"/>
                    </a:ext>
                  </a:extLst>
                </a:gridCol>
                <a:gridCol w="4083849">
                  <a:extLst>
                    <a:ext uri="{9D8B030D-6E8A-4147-A177-3AD203B41FA5}">
                      <a16:colId xmlns:a16="http://schemas.microsoft.com/office/drawing/2014/main" val="3094316000"/>
                    </a:ext>
                  </a:extLst>
                </a:gridCol>
                <a:gridCol w="2397324">
                  <a:extLst>
                    <a:ext uri="{9D8B030D-6E8A-4147-A177-3AD203B41FA5}">
                      <a16:colId xmlns:a16="http://schemas.microsoft.com/office/drawing/2014/main" val="1422712438"/>
                    </a:ext>
                  </a:extLst>
                </a:gridCol>
              </a:tblGrid>
              <a:tr h="108821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Member</a:t>
                      </a:r>
                      <a:endParaRPr lang="en-IN" sz="2800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the Institute</a:t>
                      </a:r>
                      <a:endParaRPr lang="en-IN" sz="2800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E-Mail ID</a:t>
                      </a:r>
                      <a:endParaRPr lang="en-IN" sz="2800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Contact Number</a:t>
                      </a:r>
                      <a:endParaRPr lang="en-IN" sz="2800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5546391"/>
                  </a:ext>
                </a:extLst>
              </a:tr>
              <a:tr h="713115"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3148468"/>
                  </a:ext>
                </a:extLst>
              </a:tr>
              <a:tr h="713115"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2957889"/>
                  </a:ext>
                </a:extLst>
              </a:tr>
              <a:tr h="713115"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7033278"/>
                  </a:ext>
                </a:extLst>
              </a:tr>
              <a:tr h="713115"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70572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62565" y="2744785"/>
            <a:ext cx="7362871" cy="6238553"/>
          </a:xfrm>
          <a:custGeom>
            <a:avLst/>
            <a:gdLst/>
            <a:ahLst/>
            <a:cxnLst/>
            <a:rect l="l" t="t" r="r" b="b"/>
            <a:pathLst>
              <a:path w="7362871" h="6238553">
                <a:moveTo>
                  <a:pt x="0" y="0"/>
                </a:moveTo>
                <a:lnTo>
                  <a:pt x="7362870" y="0"/>
                </a:lnTo>
                <a:lnTo>
                  <a:pt x="7362870" y="6238554"/>
                </a:lnTo>
                <a:lnTo>
                  <a:pt x="0" y="62385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-4689" t="-11018" r="-7082" b="-20896"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>
            <a:grpSpLocks noGrp="1" noUngrp="1" noRot="1" noMove="1" noResize="1"/>
          </p:cNvGrpSpPr>
          <p:nvPr/>
        </p:nvGrpSpPr>
        <p:grpSpPr>
          <a:xfrm>
            <a:off x="5338702" y="-190500"/>
            <a:ext cx="7610596" cy="3031582"/>
            <a:chOff x="0" y="0"/>
            <a:chExt cx="10147461" cy="4042110"/>
          </a:xfrm>
        </p:grpSpPr>
        <p:sp>
          <p:nvSpPr>
            <p:cNvPr id="4" name="Freeform 4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318876">
              <a:off x="8047816" y="1939885"/>
              <a:ext cx="1823961" cy="1827283"/>
            </a:xfrm>
            <a:custGeom>
              <a:avLst/>
              <a:gdLst/>
              <a:ahLst/>
              <a:cxnLst/>
              <a:rect l="l" t="t" r="r" b="b"/>
              <a:pathLst>
                <a:path w="1823961" h="1827283">
                  <a:moveTo>
                    <a:pt x="0" y="0"/>
                  </a:moveTo>
                  <a:lnTo>
                    <a:pt x="1823961" y="0"/>
                  </a:lnTo>
                  <a:lnTo>
                    <a:pt x="1823961" y="1827283"/>
                  </a:lnTo>
                  <a:lnTo>
                    <a:pt x="0" y="1827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Freeform 5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1050320">
              <a:off x="348943" y="275508"/>
              <a:ext cx="2242235" cy="2665362"/>
            </a:xfrm>
            <a:custGeom>
              <a:avLst/>
              <a:gdLst/>
              <a:ahLst/>
              <a:cxnLst/>
              <a:rect l="l" t="t" r="r" b="b"/>
              <a:pathLst>
                <a:path w="2242235" h="2665362">
                  <a:moveTo>
                    <a:pt x="0" y="0"/>
                  </a:moveTo>
                  <a:lnTo>
                    <a:pt x="2242236" y="0"/>
                  </a:lnTo>
                  <a:lnTo>
                    <a:pt x="2242236" y="2665362"/>
                  </a:lnTo>
                  <a:lnTo>
                    <a:pt x="0" y="26653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05477" y="653944"/>
              <a:ext cx="8806312" cy="32061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141"/>
                </a:lnSpc>
                <a:spcBef>
                  <a:spcPct val="0"/>
                </a:spcBef>
              </a:pPr>
              <a:r>
                <a:rPr lang="en-US" sz="16025" dirty="0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100000">
                        <a:srgbClr val="32ACC7">
                          <a:alpha val="100000"/>
                        </a:srgbClr>
                      </a:gs>
                    </a:gsLst>
                    <a:lin ang="5400000"/>
                  </a:gradFill>
                  <a:latin typeface="Tallow Sans Brush"/>
                  <a:ea typeface="Tallow Sans Brush"/>
                  <a:cs typeface="Tallow Sans Brush"/>
                  <a:sym typeface="Tallow Sans Brush"/>
                </a:rPr>
                <a:t>IDEAPOLIS</a:t>
              </a:r>
            </a:p>
          </p:txBody>
        </p:sp>
        <p:sp>
          <p:nvSpPr>
            <p:cNvPr id="7" name="TextBox 7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843788" y="3225025"/>
              <a:ext cx="6404351" cy="7247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87"/>
                </a:lnSpc>
                <a:spcBef>
                  <a:spcPct val="0"/>
                </a:spcBef>
              </a:pPr>
              <a:r>
                <a:rPr lang="en-US" sz="3205" spc="532" dirty="0">
                  <a:gradFill>
                    <a:gsLst>
                      <a:gs pos="0">
                        <a:srgbClr val="32ACC7">
                          <a:alpha val="100000"/>
                        </a:srgbClr>
                      </a:gs>
                      <a:gs pos="100000">
                        <a:srgbClr val="000000">
                          <a:alpha val="100000"/>
                        </a:srgbClr>
                      </a:gs>
                    </a:gsLst>
                    <a:lin ang="5400000"/>
                  </a:gradFill>
                  <a:latin typeface="Tallow Regular"/>
                  <a:ea typeface="Tallow Regular"/>
                  <a:cs typeface="Tallow Regular"/>
                  <a:sym typeface="Tallow Regular"/>
                </a:rPr>
                <a:t>IDEATE, ITERATE, INNOVATE</a:t>
              </a:r>
            </a:p>
          </p:txBody>
        </p:sp>
      </p:grpSp>
      <p:grpSp>
        <p:nvGrpSpPr>
          <p:cNvPr id="8" name="Group 8"/>
          <p:cNvGrpSpPr>
            <a:grpSpLocks noGrp="1" noUngrp="1" noRot="1" noMove="1" noResize="1"/>
          </p:cNvGrpSpPr>
          <p:nvPr/>
        </p:nvGrpSpPr>
        <p:grpSpPr>
          <a:xfrm>
            <a:off x="0" y="95250"/>
            <a:ext cx="18222814" cy="1347637"/>
            <a:chOff x="0" y="0"/>
            <a:chExt cx="24297086" cy="1796849"/>
          </a:xfrm>
        </p:grpSpPr>
        <p:sp>
          <p:nvSpPr>
            <p:cNvPr id="9" name="Freeform 9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748690" y="0"/>
              <a:ext cx="1548396" cy="1687785"/>
            </a:xfrm>
            <a:custGeom>
              <a:avLst/>
              <a:gdLst/>
              <a:ahLst/>
              <a:cxnLst/>
              <a:rect l="l" t="t" r="r" b="b"/>
              <a:pathLst>
                <a:path w="1548396" h="1687785">
                  <a:moveTo>
                    <a:pt x="0" y="0"/>
                  </a:moveTo>
                  <a:lnTo>
                    <a:pt x="1548396" y="0"/>
                  </a:lnTo>
                  <a:lnTo>
                    <a:pt x="1548396" y="1687785"/>
                  </a:lnTo>
                  <a:lnTo>
                    <a:pt x="0" y="1687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969" r="-4969" b="-859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630716" y="305776"/>
              <a:ext cx="4907117" cy="400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4"/>
                </a:lnSpc>
              </a:pPr>
              <a:r>
                <a:rPr lang="en-US" sz="2062" b="1" spc="-117" dirty="0">
                  <a:solidFill>
                    <a:srgbClr val="004AAD"/>
                  </a:solidFill>
                  <a:latin typeface="Mont Bold"/>
                  <a:ea typeface="Mont Bold"/>
                  <a:cs typeface="Mont Bold"/>
                  <a:sym typeface="Mont Bold"/>
                </a:rPr>
                <a:t>ACM HITK STUDENT CHAPTER</a:t>
              </a:r>
            </a:p>
          </p:txBody>
        </p:sp>
        <p:sp>
          <p:nvSpPr>
            <p:cNvPr id="11" name="TextBox 11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735916" y="781842"/>
              <a:ext cx="4696719" cy="5334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602"/>
                </a:lnSpc>
                <a:spcBef>
                  <a:spcPct val="0"/>
                </a:spcBef>
              </a:pPr>
              <a:r>
                <a:rPr lang="en-US" sz="1415" b="1" dirty="0">
                  <a:solidFill>
                    <a:srgbClr val="004AA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Association of Computing Machinery</a:t>
              </a:r>
            </a:p>
            <a:p>
              <a:pPr marL="0" lvl="0" indent="0" algn="ctr">
                <a:lnSpc>
                  <a:spcPts val="1602"/>
                </a:lnSpc>
                <a:spcBef>
                  <a:spcPct val="0"/>
                </a:spcBef>
              </a:pPr>
              <a:r>
                <a:rPr lang="en-US" sz="1415" b="1" u="none" strike="noStrike" dirty="0">
                  <a:solidFill>
                    <a:srgbClr val="004AA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Heritage Institute of Technology</a:t>
              </a:r>
            </a:p>
          </p:txBody>
        </p:sp>
        <p:sp>
          <p:nvSpPr>
            <p:cNvPr id="12" name="AutoShape 1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640977" y="0"/>
              <a:ext cx="0" cy="1687785"/>
            </a:xfrm>
            <a:prstGeom prst="line">
              <a:avLst/>
            </a:prstGeom>
            <a:ln w="25400" cap="flat">
              <a:solidFill>
                <a:srgbClr val="004AA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877728" cy="1796849"/>
            </a:xfrm>
            <a:custGeom>
              <a:avLst/>
              <a:gdLst/>
              <a:ahLst/>
              <a:cxnLst/>
              <a:rect l="l" t="t" r="r" b="b"/>
              <a:pathLst>
                <a:path w="1877728" h="1796849">
                  <a:moveTo>
                    <a:pt x="0" y="0"/>
                  </a:moveTo>
                  <a:lnTo>
                    <a:pt x="1877728" y="0"/>
                  </a:lnTo>
                  <a:lnTo>
                    <a:pt x="1877728" y="1796849"/>
                  </a:lnTo>
                  <a:lnTo>
                    <a:pt x="0" y="17968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6" t="-1707" b="-1131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125638" y="3986667"/>
            <a:ext cx="11443844" cy="46092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1948" lvl="1" indent="-345974" algn="l">
              <a:lnSpc>
                <a:spcPts val="3627"/>
              </a:lnSpc>
              <a:spcBef>
                <a:spcPct val="0"/>
              </a:spcBef>
              <a:buFont typeface="Arial"/>
              <a:buChar char="•"/>
            </a:pPr>
            <a:r>
              <a:rPr lang="en-US" sz="3204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Define a </a:t>
            </a:r>
            <a:r>
              <a:rPr lang="en-US" sz="3204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pressing societal challenge</a:t>
            </a:r>
            <a:r>
              <a:rPr lang="en-US" sz="3204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that can be meaningfully addressed using AI.</a:t>
            </a:r>
          </a:p>
          <a:p>
            <a:pPr marL="691948" lvl="1" indent="-345974" algn="l">
              <a:lnSpc>
                <a:spcPts val="3627"/>
              </a:lnSpc>
              <a:spcBef>
                <a:spcPct val="0"/>
              </a:spcBef>
              <a:buFont typeface="Arial"/>
              <a:buChar char="•"/>
            </a:pPr>
            <a:r>
              <a:rPr lang="en-US" sz="3204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Establish the </a:t>
            </a:r>
            <a:r>
              <a:rPr lang="en-US" sz="3204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root cause</a:t>
            </a:r>
            <a:r>
              <a:rPr lang="en-US" sz="3204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 Why does this issue persist despite existing efforts?</a:t>
            </a:r>
          </a:p>
          <a:p>
            <a:pPr marL="691948" lvl="1" indent="-345974" algn="l">
              <a:lnSpc>
                <a:spcPts val="3627"/>
              </a:lnSpc>
              <a:spcBef>
                <a:spcPct val="0"/>
              </a:spcBef>
              <a:buFont typeface="Arial"/>
              <a:buChar char="•"/>
            </a:pPr>
            <a:r>
              <a:rPr lang="en-US" sz="3204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Identify the </a:t>
            </a:r>
            <a:r>
              <a:rPr lang="en-US" sz="3204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affected stakeholders:</a:t>
            </a:r>
            <a:r>
              <a:rPr lang="en-US" sz="3204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Who experiences the impact most critically?</a:t>
            </a:r>
          </a:p>
          <a:p>
            <a:pPr marL="691948" lvl="1" indent="-345974" algn="l">
              <a:lnSpc>
                <a:spcPts val="3627"/>
              </a:lnSpc>
              <a:spcBef>
                <a:spcPct val="0"/>
              </a:spcBef>
              <a:buFont typeface="Arial"/>
              <a:buChar char="•"/>
            </a:pPr>
            <a:r>
              <a:rPr lang="en-US" sz="3204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Analyze the </a:t>
            </a:r>
            <a:r>
              <a:rPr lang="en-US" sz="3204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limitations of current solutions:</a:t>
            </a:r>
            <a:r>
              <a:rPr lang="en-US" sz="3204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Where do they fall short in scalability, accessibility, affordability, or fairness?</a:t>
            </a:r>
          </a:p>
          <a:p>
            <a:pPr marL="691948" lvl="1" indent="-345974" algn="l">
              <a:lnSpc>
                <a:spcPts val="3627"/>
              </a:lnSpc>
              <a:spcBef>
                <a:spcPct val="0"/>
              </a:spcBef>
              <a:buFont typeface="Arial"/>
              <a:buChar char="•"/>
            </a:pPr>
            <a:r>
              <a:rPr lang="en-US" sz="3204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Justify the </a:t>
            </a:r>
            <a:r>
              <a:rPr lang="en-US" sz="3204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role of AI</a:t>
            </a:r>
            <a:r>
              <a:rPr lang="en-US" sz="3204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 why is AI uniquely positioned to create measurable and sustainable impact in this context?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173476" y="2840781"/>
            <a:ext cx="5993401" cy="7584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73"/>
              </a:lnSpc>
              <a:spcBef>
                <a:spcPct val="0"/>
              </a:spcBef>
            </a:pPr>
            <a:r>
              <a:rPr lang="en-US" sz="5099" b="1" dirty="0">
                <a:solidFill>
                  <a:srgbClr val="000000">
                    <a:alpha val="69804"/>
                  </a:srgb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</a:t>
            </a:r>
          </a:p>
        </p:txBody>
      </p:sp>
      <p:grpSp>
        <p:nvGrpSpPr>
          <p:cNvPr id="24" name="Group 15">
            <a:extLst>
              <a:ext uri="{FF2B5EF4-FFF2-40B4-BE49-F238E27FC236}">
                <a16:creationId xmlns:a16="http://schemas.microsoft.com/office/drawing/2014/main" id="{11F608B5-A3F9-5B98-7C0D-3BAA755CE1E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9588683"/>
            <a:ext cx="18288000" cy="698318"/>
            <a:chOff x="0" y="0"/>
            <a:chExt cx="24858955" cy="1590129"/>
          </a:xfrm>
        </p:grpSpPr>
        <p:grpSp>
          <p:nvGrpSpPr>
            <p:cNvPr id="25" name="Group 16">
              <a:extLst>
                <a:ext uri="{FF2B5EF4-FFF2-40B4-BE49-F238E27FC236}">
                  <a16:creationId xmlns:a16="http://schemas.microsoft.com/office/drawing/2014/main" id="{D87E368B-E38E-66D1-6883-EF33804504A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0" y="0"/>
              <a:ext cx="24858955" cy="1590129"/>
              <a:chOff x="0" y="0"/>
              <a:chExt cx="3836258" cy="245390"/>
            </a:xfrm>
          </p:grpSpPr>
          <p:sp>
            <p:nvSpPr>
              <p:cNvPr id="29" name="Freeform 17">
                <a:extLst>
                  <a:ext uri="{FF2B5EF4-FFF2-40B4-BE49-F238E27FC236}">
                    <a16:creationId xmlns:a16="http://schemas.microsoft.com/office/drawing/2014/main" id="{371D9247-C057-F924-FD79-D4DA0DFE44E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0"/>
                <a:ext cx="3836258" cy="245390"/>
              </a:xfrm>
              <a:custGeom>
                <a:avLst/>
                <a:gdLst/>
                <a:ahLst/>
                <a:cxnLst/>
                <a:rect l="l" t="t" r="r" b="b"/>
                <a:pathLst>
                  <a:path w="3836258" h="245390">
                    <a:moveTo>
                      <a:pt x="8110" y="0"/>
                    </a:moveTo>
                    <a:lnTo>
                      <a:pt x="3828148" y="0"/>
                    </a:lnTo>
                    <a:cubicBezTo>
                      <a:pt x="3830299" y="0"/>
                      <a:pt x="3832362" y="854"/>
                      <a:pt x="3833883" y="2375"/>
                    </a:cubicBezTo>
                    <a:cubicBezTo>
                      <a:pt x="3835404" y="3896"/>
                      <a:pt x="3836258" y="5959"/>
                      <a:pt x="3836258" y="8110"/>
                    </a:cubicBezTo>
                    <a:lnTo>
                      <a:pt x="3836258" y="237280"/>
                    </a:lnTo>
                    <a:cubicBezTo>
                      <a:pt x="3836258" y="239431"/>
                      <a:pt x="3835404" y="241494"/>
                      <a:pt x="3833883" y="243015"/>
                    </a:cubicBezTo>
                    <a:cubicBezTo>
                      <a:pt x="3832362" y="244536"/>
                      <a:pt x="3830299" y="245390"/>
                      <a:pt x="3828148" y="245390"/>
                    </a:cubicBezTo>
                    <a:lnTo>
                      <a:pt x="8110" y="245390"/>
                    </a:lnTo>
                    <a:cubicBezTo>
                      <a:pt x="5959" y="245390"/>
                      <a:pt x="3896" y="244536"/>
                      <a:pt x="2375" y="243015"/>
                    </a:cubicBezTo>
                    <a:cubicBezTo>
                      <a:pt x="854" y="241494"/>
                      <a:pt x="0" y="239431"/>
                      <a:pt x="0" y="237280"/>
                    </a:cubicBezTo>
                    <a:lnTo>
                      <a:pt x="0" y="8110"/>
                    </a:lnTo>
                    <a:cubicBezTo>
                      <a:pt x="0" y="5959"/>
                      <a:pt x="854" y="3896"/>
                      <a:pt x="2375" y="2375"/>
                    </a:cubicBezTo>
                    <a:cubicBezTo>
                      <a:pt x="3896" y="854"/>
                      <a:pt x="5959" y="0"/>
                      <a:pt x="8110" y="0"/>
                    </a:cubicBezTo>
                    <a:close/>
                  </a:path>
                </a:pathLst>
              </a:custGeom>
              <a:solidFill>
                <a:srgbClr val="ABD6F0"/>
              </a:solidFill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30" name="TextBox 18">
                <a:extLst>
                  <a:ext uri="{FF2B5EF4-FFF2-40B4-BE49-F238E27FC236}">
                    <a16:creationId xmlns:a16="http://schemas.microsoft.com/office/drawing/2014/main" id="{8DD2BEB0-C6A8-9AD3-58B8-14A741CADF8B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0"/>
                <a:ext cx="3836258" cy="2453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02"/>
                  </a:lnSpc>
                </a:pPr>
                <a:endParaRPr/>
              </a:p>
            </p:txBody>
          </p:sp>
        </p:grpSp>
        <p:sp>
          <p:nvSpPr>
            <p:cNvPr id="26" name="TextBox 19">
              <a:extLst>
                <a:ext uri="{FF2B5EF4-FFF2-40B4-BE49-F238E27FC236}">
                  <a16:creationId xmlns:a16="http://schemas.microsoft.com/office/drawing/2014/main" id="{6912A781-ACB2-799A-3CB4-32C65C260A8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66988" y="310230"/>
              <a:ext cx="3924979" cy="7884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16"/>
                </a:lnSpc>
              </a:pPr>
              <a:r>
                <a:rPr lang="en-US" sz="2400" b="1" u="sng" dirty="0">
                  <a:solidFill>
                    <a:srgbClr val="00206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  <a:hlinkClick r:id="rId8" tooltip="https://hitk.acm.org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https://hitk.acm.org/</a:t>
              </a:r>
            </a:p>
          </p:txBody>
        </p:sp>
        <p:sp>
          <p:nvSpPr>
            <p:cNvPr id="27" name="TextBox 20">
              <a:extLst>
                <a:ext uri="{FF2B5EF4-FFF2-40B4-BE49-F238E27FC236}">
                  <a16:creationId xmlns:a16="http://schemas.microsoft.com/office/drawing/2014/main" id="{642615B5-FD4F-DB61-6156-B07C2088216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389862" y="300111"/>
              <a:ext cx="2103289" cy="7884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16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Page | 3</a:t>
              </a:r>
            </a:p>
          </p:txBody>
        </p:sp>
        <p:sp>
          <p:nvSpPr>
            <p:cNvPr id="28" name="TextBox 21">
              <a:extLst>
                <a:ext uri="{FF2B5EF4-FFF2-40B4-BE49-F238E27FC236}">
                  <a16:creationId xmlns:a16="http://schemas.microsoft.com/office/drawing/2014/main" id="{1C3B32A6-13AC-9B59-D65D-6E3A12BDF3C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5804" y="310230"/>
              <a:ext cx="5746980" cy="7884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16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  <a:hlinkClick r:id="rId9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Heritage Institute of Technology</a:t>
              </a:r>
              <a:endParaRPr lang="en-US" sz="2400" b="1" dirty="0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  <p:sp>
        <p:nvSpPr>
          <p:cNvPr id="21" name="Freeform 21"/>
          <p:cNvSpPr/>
          <p:nvPr/>
        </p:nvSpPr>
        <p:spPr>
          <a:xfrm>
            <a:off x="13025292" y="5746568"/>
            <a:ext cx="5209414" cy="4445182"/>
          </a:xfrm>
          <a:custGeom>
            <a:avLst/>
            <a:gdLst/>
            <a:ahLst/>
            <a:cxnLst/>
            <a:rect l="l" t="t" r="r" b="b"/>
            <a:pathLst>
              <a:path w="5209414" h="4445182">
                <a:moveTo>
                  <a:pt x="0" y="0"/>
                </a:moveTo>
                <a:lnTo>
                  <a:pt x="5209414" y="0"/>
                </a:lnTo>
                <a:lnTo>
                  <a:pt x="5209414" y="4445182"/>
                </a:lnTo>
                <a:lnTo>
                  <a:pt x="0" y="44451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90000"/>
            </a:blip>
            <a:stretch>
              <a:fillRect b="-931"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62565" y="2744785"/>
            <a:ext cx="7362871" cy="6238553"/>
          </a:xfrm>
          <a:custGeom>
            <a:avLst/>
            <a:gdLst/>
            <a:ahLst/>
            <a:cxnLst/>
            <a:rect l="l" t="t" r="r" b="b"/>
            <a:pathLst>
              <a:path w="7362871" h="6238553">
                <a:moveTo>
                  <a:pt x="0" y="0"/>
                </a:moveTo>
                <a:lnTo>
                  <a:pt x="7362870" y="0"/>
                </a:lnTo>
                <a:lnTo>
                  <a:pt x="7362870" y="6238554"/>
                </a:lnTo>
                <a:lnTo>
                  <a:pt x="0" y="62385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-4689" t="-11018" r="-7082" b="-20896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>
            <a:grpSpLocks noGrp="1" noUngrp="1" noRot="1" noMove="1" noResize="1"/>
          </p:cNvGrpSpPr>
          <p:nvPr/>
        </p:nvGrpSpPr>
        <p:grpSpPr>
          <a:xfrm>
            <a:off x="5338702" y="-190500"/>
            <a:ext cx="7610596" cy="3031582"/>
            <a:chOff x="0" y="0"/>
            <a:chExt cx="10147461" cy="4042110"/>
          </a:xfrm>
        </p:grpSpPr>
        <p:sp>
          <p:nvSpPr>
            <p:cNvPr id="4" name="Freeform 4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318876">
              <a:off x="8047816" y="1939885"/>
              <a:ext cx="1823961" cy="1827283"/>
            </a:xfrm>
            <a:custGeom>
              <a:avLst/>
              <a:gdLst/>
              <a:ahLst/>
              <a:cxnLst/>
              <a:rect l="l" t="t" r="r" b="b"/>
              <a:pathLst>
                <a:path w="1823961" h="1827283">
                  <a:moveTo>
                    <a:pt x="0" y="0"/>
                  </a:moveTo>
                  <a:lnTo>
                    <a:pt x="1823961" y="0"/>
                  </a:lnTo>
                  <a:lnTo>
                    <a:pt x="1823961" y="1827283"/>
                  </a:lnTo>
                  <a:lnTo>
                    <a:pt x="0" y="1827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Freeform 5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1050320">
              <a:off x="348943" y="275508"/>
              <a:ext cx="2242235" cy="2665362"/>
            </a:xfrm>
            <a:custGeom>
              <a:avLst/>
              <a:gdLst/>
              <a:ahLst/>
              <a:cxnLst/>
              <a:rect l="l" t="t" r="r" b="b"/>
              <a:pathLst>
                <a:path w="2242235" h="2665362">
                  <a:moveTo>
                    <a:pt x="0" y="0"/>
                  </a:moveTo>
                  <a:lnTo>
                    <a:pt x="2242236" y="0"/>
                  </a:lnTo>
                  <a:lnTo>
                    <a:pt x="2242236" y="2665362"/>
                  </a:lnTo>
                  <a:lnTo>
                    <a:pt x="0" y="26653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05477" y="653944"/>
              <a:ext cx="8806312" cy="32061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141"/>
                </a:lnSpc>
                <a:spcBef>
                  <a:spcPct val="0"/>
                </a:spcBef>
              </a:pPr>
              <a:r>
                <a:rPr lang="en-US" sz="16025" dirty="0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100000">
                        <a:srgbClr val="32ACC7">
                          <a:alpha val="100000"/>
                        </a:srgbClr>
                      </a:gs>
                    </a:gsLst>
                    <a:lin ang="5400000"/>
                  </a:gradFill>
                  <a:latin typeface="Tallow Sans Brush"/>
                  <a:ea typeface="Tallow Sans Brush"/>
                  <a:cs typeface="Tallow Sans Brush"/>
                  <a:sym typeface="Tallow Sans Brush"/>
                </a:rPr>
                <a:t>IDEAPOLIS</a:t>
              </a:r>
            </a:p>
          </p:txBody>
        </p:sp>
        <p:sp>
          <p:nvSpPr>
            <p:cNvPr id="7" name="TextBox 7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843788" y="3225025"/>
              <a:ext cx="6404351" cy="7247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87"/>
                </a:lnSpc>
                <a:spcBef>
                  <a:spcPct val="0"/>
                </a:spcBef>
              </a:pPr>
              <a:r>
                <a:rPr lang="en-US" sz="3205" spc="532">
                  <a:gradFill>
                    <a:gsLst>
                      <a:gs pos="0">
                        <a:srgbClr val="32ACC7">
                          <a:alpha val="100000"/>
                        </a:srgbClr>
                      </a:gs>
                      <a:gs pos="100000">
                        <a:srgbClr val="000000">
                          <a:alpha val="100000"/>
                        </a:srgbClr>
                      </a:gs>
                    </a:gsLst>
                    <a:lin ang="5400000"/>
                  </a:gradFill>
                  <a:latin typeface="Tallow Regular"/>
                  <a:ea typeface="Tallow Regular"/>
                  <a:cs typeface="Tallow Regular"/>
                  <a:sym typeface="Tallow Regular"/>
                </a:rPr>
                <a:t>IDEATE, ITERATE, INNOVATE</a:t>
              </a:r>
            </a:p>
          </p:txBody>
        </p:sp>
      </p:grpSp>
      <p:grpSp>
        <p:nvGrpSpPr>
          <p:cNvPr id="8" name="Group 8"/>
          <p:cNvGrpSpPr>
            <a:grpSpLocks noGrp="1" noUngrp="1" noRot="1" noMove="1" noResize="1"/>
          </p:cNvGrpSpPr>
          <p:nvPr/>
        </p:nvGrpSpPr>
        <p:grpSpPr>
          <a:xfrm>
            <a:off x="0" y="95250"/>
            <a:ext cx="18222814" cy="1347637"/>
            <a:chOff x="0" y="0"/>
            <a:chExt cx="24297086" cy="1796849"/>
          </a:xfrm>
        </p:grpSpPr>
        <p:sp>
          <p:nvSpPr>
            <p:cNvPr id="9" name="Freeform 9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748690" y="0"/>
              <a:ext cx="1548396" cy="1687785"/>
            </a:xfrm>
            <a:custGeom>
              <a:avLst/>
              <a:gdLst/>
              <a:ahLst/>
              <a:cxnLst/>
              <a:rect l="l" t="t" r="r" b="b"/>
              <a:pathLst>
                <a:path w="1548396" h="1687785">
                  <a:moveTo>
                    <a:pt x="0" y="0"/>
                  </a:moveTo>
                  <a:lnTo>
                    <a:pt x="1548396" y="0"/>
                  </a:lnTo>
                  <a:lnTo>
                    <a:pt x="1548396" y="1687785"/>
                  </a:lnTo>
                  <a:lnTo>
                    <a:pt x="0" y="1687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969" r="-4969" b="-859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630716" y="305776"/>
              <a:ext cx="4907117" cy="400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4"/>
                </a:lnSpc>
              </a:pPr>
              <a:r>
                <a:rPr lang="en-US" sz="2062" b="1" spc="-117" dirty="0">
                  <a:solidFill>
                    <a:srgbClr val="004AAD"/>
                  </a:solidFill>
                  <a:latin typeface="Mont Bold"/>
                  <a:ea typeface="Mont Bold"/>
                  <a:cs typeface="Mont Bold"/>
                  <a:sym typeface="Mont Bold"/>
                </a:rPr>
                <a:t>ACM HITK STUDENT CHAPTER</a:t>
              </a:r>
            </a:p>
          </p:txBody>
        </p:sp>
        <p:sp>
          <p:nvSpPr>
            <p:cNvPr id="11" name="TextBox 11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735916" y="781842"/>
              <a:ext cx="4696719" cy="5334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602"/>
                </a:lnSpc>
                <a:spcBef>
                  <a:spcPct val="0"/>
                </a:spcBef>
              </a:pPr>
              <a:r>
                <a:rPr lang="en-US" sz="1415" b="1">
                  <a:solidFill>
                    <a:srgbClr val="004AA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Association of Computing Machinery</a:t>
              </a:r>
            </a:p>
            <a:p>
              <a:pPr marL="0" lvl="0" indent="0" algn="ctr">
                <a:lnSpc>
                  <a:spcPts val="1602"/>
                </a:lnSpc>
                <a:spcBef>
                  <a:spcPct val="0"/>
                </a:spcBef>
              </a:pPr>
              <a:r>
                <a:rPr lang="en-US" sz="1415" b="1" u="none" strike="noStrike">
                  <a:solidFill>
                    <a:srgbClr val="004AA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Heritage Institute of Technology</a:t>
              </a:r>
            </a:p>
          </p:txBody>
        </p:sp>
        <p:sp>
          <p:nvSpPr>
            <p:cNvPr id="12" name="AutoShape 1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640977" y="0"/>
              <a:ext cx="0" cy="1687785"/>
            </a:xfrm>
            <a:prstGeom prst="line">
              <a:avLst/>
            </a:prstGeom>
            <a:ln w="25170" cap="flat">
              <a:solidFill>
                <a:srgbClr val="004AA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877728" cy="1796849"/>
            </a:xfrm>
            <a:custGeom>
              <a:avLst/>
              <a:gdLst/>
              <a:ahLst/>
              <a:cxnLst/>
              <a:rect l="l" t="t" r="r" b="b"/>
              <a:pathLst>
                <a:path w="1877728" h="1796849">
                  <a:moveTo>
                    <a:pt x="0" y="0"/>
                  </a:moveTo>
                  <a:lnTo>
                    <a:pt x="1877728" y="0"/>
                  </a:lnTo>
                  <a:lnTo>
                    <a:pt x="1877728" y="1796849"/>
                  </a:lnTo>
                  <a:lnTo>
                    <a:pt x="0" y="17968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6" t="-1707" b="-1131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28700" y="4362718"/>
            <a:ext cx="10800473" cy="3694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1948" lvl="1" indent="-345974" algn="l">
              <a:lnSpc>
                <a:spcPts val="3627"/>
              </a:lnSpc>
              <a:spcBef>
                <a:spcPct val="0"/>
              </a:spcBef>
              <a:buFont typeface="Arial"/>
              <a:buChar char="•"/>
            </a:pPr>
            <a:r>
              <a:rPr lang="en-US" sz="320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 a </a:t>
            </a:r>
            <a:r>
              <a:rPr lang="en-US" sz="3204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clear and compelling one-line value proposition: </a:t>
            </a:r>
            <a:r>
              <a:rPr lang="en-US" sz="320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does your AI solution achieve and for whom?</a:t>
            </a:r>
          </a:p>
          <a:p>
            <a:pPr marL="691948" lvl="1" indent="-345974" algn="l">
              <a:lnSpc>
                <a:spcPts val="3627"/>
              </a:lnSpc>
              <a:spcBef>
                <a:spcPct val="0"/>
              </a:spcBef>
              <a:buFont typeface="Arial"/>
              <a:buChar char="•"/>
            </a:pPr>
            <a:r>
              <a:rPr lang="en-US" sz="320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Highlight </a:t>
            </a:r>
            <a:r>
              <a:rPr lang="en-US" sz="3204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3–4 core components</a:t>
            </a:r>
            <a:r>
              <a:rPr lang="en-US" sz="320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(AI model, data pipeline, user interface, deployment strategy).</a:t>
            </a:r>
          </a:p>
          <a:p>
            <a:pPr marL="691948" lvl="1" indent="-345974" algn="l">
              <a:lnSpc>
                <a:spcPts val="3627"/>
              </a:lnSpc>
              <a:spcBef>
                <a:spcPct val="0"/>
              </a:spcBef>
              <a:buFont typeface="Arial"/>
              <a:buChar char="•"/>
            </a:pPr>
            <a:r>
              <a:rPr lang="en-US" sz="320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Explain the </a:t>
            </a:r>
            <a:r>
              <a:rPr lang="en-US" sz="3204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innovation factor</a:t>
            </a:r>
            <a:r>
              <a:rPr lang="en-US" sz="320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What differentiates your approach in terms of intelligence, inclusivity, or scalability?</a:t>
            </a:r>
          </a:p>
          <a:p>
            <a:pPr marL="691948" lvl="1" indent="-345974" algn="l">
              <a:lnSpc>
                <a:spcPts val="3627"/>
              </a:lnSpc>
              <a:spcBef>
                <a:spcPct val="0"/>
              </a:spcBef>
              <a:buFont typeface="Arial"/>
              <a:buChar char="•"/>
            </a:pPr>
            <a:r>
              <a:rPr lang="en-US" sz="320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Demonstrate </a:t>
            </a:r>
            <a:r>
              <a:rPr lang="en-US" sz="3204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measurable impact:</a:t>
            </a:r>
            <a:r>
              <a:rPr lang="en-US" sz="320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how does it improve accessibility, efficiency, affordability, or equity?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80525" y="2850607"/>
            <a:ext cx="5126950" cy="758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73"/>
              </a:lnSpc>
              <a:spcBef>
                <a:spcPct val="0"/>
              </a:spcBef>
            </a:pPr>
            <a:r>
              <a:rPr lang="en-US" sz="5099" b="1" dirty="0">
                <a:solidFill>
                  <a:srgbClr val="000000">
                    <a:alpha val="69804"/>
                  </a:srgb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Solution Overview</a:t>
            </a:r>
          </a:p>
        </p:txBody>
      </p:sp>
      <p:grpSp>
        <p:nvGrpSpPr>
          <p:cNvPr id="24" name="Group 15">
            <a:extLst>
              <a:ext uri="{FF2B5EF4-FFF2-40B4-BE49-F238E27FC236}">
                <a16:creationId xmlns:a16="http://schemas.microsoft.com/office/drawing/2014/main" id="{A6678372-8C45-AB4D-A22C-03A21313649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9588683"/>
            <a:ext cx="18288000" cy="698318"/>
            <a:chOff x="0" y="0"/>
            <a:chExt cx="24858955" cy="1590129"/>
          </a:xfrm>
        </p:grpSpPr>
        <p:grpSp>
          <p:nvGrpSpPr>
            <p:cNvPr id="25" name="Group 16">
              <a:extLst>
                <a:ext uri="{FF2B5EF4-FFF2-40B4-BE49-F238E27FC236}">
                  <a16:creationId xmlns:a16="http://schemas.microsoft.com/office/drawing/2014/main" id="{49889C30-6DB6-9801-F0DF-C8426632AAD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0" y="0"/>
              <a:ext cx="24858955" cy="1590129"/>
              <a:chOff x="0" y="0"/>
              <a:chExt cx="3836258" cy="245390"/>
            </a:xfrm>
          </p:grpSpPr>
          <p:sp>
            <p:nvSpPr>
              <p:cNvPr id="29" name="Freeform 17">
                <a:extLst>
                  <a:ext uri="{FF2B5EF4-FFF2-40B4-BE49-F238E27FC236}">
                    <a16:creationId xmlns:a16="http://schemas.microsoft.com/office/drawing/2014/main" id="{73D4BFB9-FC21-0380-73E1-76E1AD561C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0"/>
                <a:ext cx="3836258" cy="245390"/>
              </a:xfrm>
              <a:custGeom>
                <a:avLst/>
                <a:gdLst/>
                <a:ahLst/>
                <a:cxnLst/>
                <a:rect l="l" t="t" r="r" b="b"/>
                <a:pathLst>
                  <a:path w="3836258" h="245390">
                    <a:moveTo>
                      <a:pt x="8110" y="0"/>
                    </a:moveTo>
                    <a:lnTo>
                      <a:pt x="3828148" y="0"/>
                    </a:lnTo>
                    <a:cubicBezTo>
                      <a:pt x="3830299" y="0"/>
                      <a:pt x="3832362" y="854"/>
                      <a:pt x="3833883" y="2375"/>
                    </a:cubicBezTo>
                    <a:cubicBezTo>
                      <a:pt x="3835404" y="3896"/>
                      <a:pt x="3836258" y="5959"/>
                      <a:pt x="3836258" y="8110"/>
                    </a:cubicBezTo>
                    <a:lnTo>
                      <a:pt x="3836258" y="237280"/>
                    </a:lnTo>
                    <a:cubicBezTo>
                      <a:pt x="3836258" y="239431"/>
                      <a:pt x="3835404" y="241494"/>
                      <a:pt x="3833883" y="243015"/>
                    </a:cubicBezTo>
                    <a:cubicBezTo>
                      <a:pt x="3832362" y="244536"/>
                      <a:pt x="3830299" y="245390"/>
                      <a:pt x="3828148" y="245390"/>
                    </a:cubicBezTo>
                    <a:lnTo>
                      <a:pt x="8110" y="245390"/>
                    </a:lnTo>
                    <a:cubicBezTo>
                      <a:pt x="5959" y="245390"/>
                      <a:pt x="3896" y="244536"/>
                      <a:pt x="2375" y="243015"/>
                    </a:cubicBezTo>
                    <a:cubicBezTo>
                      <a:pt x="854" y="241494"/>
                      <a:pt x="0" y="239431"/>
                      <a:pt x="0" y="237280"/>
                    </a:cubicBezTo>
                    <a:lnTo>
                      <a:pt x="0" y="8110"/>
                    </a:lnTo>
                    <a:cubicBezTo>
                      <a:pt x="0" y="5959"/>
                      <a:pt x="854" y="3896"/>
                      <a:pt x="2375" y="2375"/>
                    </a:cubicBezTo>
                    <a:cubicBezTo>
                      <a:pt x="3896" y="854"/>
                      <a:pt x="5959" y="0"/>
                      <a:pt x="8110" y="0"/>
                    </a:cubicBezTo>
                    <a:close/>
                  </a:path>
                </a:pathLst>
              </a:custGeom>
              <a:solidFill>
                <a:srgbClr val="ABD6F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TextBox 18">
                <a:extLst>
                  <a:ext uri="{FF2B5EF4-FFF2-40B4-BE49-F238E27FC236}">
                    <a16:creationId xmlns:a16="http://schemas.microsoft.com/office/drawing/2014/main" id="{07CA3175-DBDC-E615-0331-954E10226C6C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0"/>
                <a:ext cx="3836258" cy="2453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02"/>
                  </a:lnSpc>
                </a:pPr>
                <a:endParaRPr/>
              </a:p>
            </p:txBody>
          </p:sp>
        </p:grpSp>
        <p:sp>
          <p:nvSpPr>
            <p:cNvPr id="26" name="TextBox 19">
              <a:extLst>
                <a:ext uri="{FF2B5EF4-FFF2-40B4-BE49-F238E27FC236}">
                  <a16:creationId xmlns:a16="http://schemas.microsoft.com/office/drawing/2014/main" id="{70D2E478-8EF3-B348-02EC-D21D0ADECD5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66988" y="310230"/>
              <a:ext cx="3924979" cy="7884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16"/>
                </a:lnSpc>
              </a:pPr>
              <a:r>
                <a:rPr lang="en-US" sz="2400" b="1" u="sng" dirty="0">
                  <a:solidFill>
                    <a:srgbClr val="00206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  <a:hlinkClick r:id="rId8" tooltip="https://hitk.acm.org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https://hitk.acm.org/</a:t>
              </a:r>
            </a:p>
          </p:txBody>
        </p:sp>
        <p:sp>
          <p:nvSpPr>
            <p:cNvPr id="27" name="TextBox 20">
              <a:extLst>
                <a:ext uri="{FF2B5EF4-FFF2-40B4-BE49-F238E27FC236}">
                  <a16:creationId xmlns:a16="http://schemas.microsoft.com/office/drawing/2014/main" id="{99809877-1282-1ED8-D20E-2C759D980EC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389862" y="300111"/>
              <a:ext cx="2103289" cy="7884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16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Page | 4</a:t>
              </a:r>
            </a:p>
          </p:txBody>
        </p:sp>
        <p:sp>
          <p:nvSpPr>
            <p:cNvPr id="28" name="TextBox 21">
              <a:extLst>
                <a:ext uri="{FF2B5EF4-FFF2-40B4-BE49-F238E27FC236}">
                  <a16:creationId xmlns:a16="http://schemas.microsoft.com/office/drawing/2014/main" id="{E1C58997-6558-F885-47ED-5E6B606C4CE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5804" y="310230"/>
              <a:ext cx="5746980" cy="7884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16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  <a:hlinkClick r:id="rId9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Heritage Institute of Technology</a:t>
              </a:r>
              <a:endParaRPr lang="en-US" sz="2400" b="1" dirty="0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  <p:sp>
        <p:nvSpPr>
          <p:cNvPr id="21" name="Freeform 21"/>
          <p:cNvSpPr/>
          <p:nvPr/>
        </p:nvSpPr>
        <p:spPr>
          <a:xfrm>
            <a:off x="14191622" y="5539639"/>
            <a:ext cx="4050242" cy="4230018"/>
          </a:xfrm>
          <a:custGeom>
            <a:avLst/>
            <a:gdLst/>
            <a:ahLst/>
            <a:cxnLst/>
            <a:rect l="l" t="t" r="r" b="b"/>
            <a:pathLst>
              <a:path w="4050242" h="4230018">
                <a:moveTo>
                  <a:pt x="0" y="0"/>
                </a:moveTo>
                <a:lnTo>
                  <a:pt x="4050242" y="0"/>
                </a:lnTo>
                <a:lnTo>
                  <a:pt x="4050242" y="4230018"/>
                </a:lnTo>
                <a:lnTo>
                  <a:pt x="0" y="42300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9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62565" y="2744785"/>
            <a:ext cx="7362871" cy="6238553"/>
          </a:xfrm>
          <a:custGeom>
            <a:avLst/>
            <a:gdLst/>
            <a:ahLst/>
            <a:cxnLst/>
            <a:rect l="l" t="t" r="r" b="b"/>
            <a:pathLst>
              <a:path w="7362871" h="6238553">
                <a:moveTo>
                  <a:pt x="0" y="0"/>
                </a:moveTo>
                <a:lnTo>
                  <a:pt x="7362870" y="0"/>
                </a:lnTo>
                <a:lnTo>
                  <a:pt x="7362870" y="6238554"/>
                </a:lnTo>
                <a:lnTo>
                  <a:pt x="0" y="62385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-4689" t="-11018" r="-7082" b="-20896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>
            <a:grpSpLocks noGrp="1" noUngrp="1" noRot="1" noMove="1" noResize="1"/>
          </p:cNvGrpSpPr>
          <p:nvPr/>
        </p:nvGrpSpPr>
        <p:grpSpPr>
          <a:xfrm>
            <a:off x="5338702" y="-190500"/>
            <a:ext cx="7610596" cy="3031582"/>
            <a:chOff x="0" y="0"/>
            <a:chExt cx="10147461" cy="4042110"/>
          </a:xfrm>
        </p:grpSpPr>
        <p:sp>
          <p:nvSpPr>
            <p:cNvPr id="4" name="Freeform 4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318876">
              <a:off x="8047816" y="1939885"/>
              <a:ext cx="1823961" cy="1827283"/>
            </a:xfrm>
            <a:custGeom>
              <a:avLst/>
              <a:gdLst/>
              <a:ahLst/>
              <a:cxnLst/>
              <a:rect l="l" t="t" r="r" b="b"/>
              <a:pathLst>
                <a:path w="1823961" h="1827283">
                  <a:moveTo>
                    <a:pt x="0" y="0"/>
                  </a:moveTo>
                  <a:lnTo>
                    <a:pt x="1823961" y="0"/>
                  </a:lnTo>
                  <a:lnTo>
                    <a:pt x="1823961" y="1827283"/>
                  </a:lnTo>
                  <a:lnTo>
                    <a:pt x="0" y="1827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Freeform 5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1050320">
              <a:off x="348943" y="275508"/>
              <a:ext cx="2242235" cy="2665362"/>
            </a:xfrm>
            <a:custGeom>
              <a:avLst/>
              <a:gdLst/>
              <a:ahLst/>
              <a:cxnLst/>
              <a:rect l="l" t="t" r="r" b="b"/>
              <a:pathLst>
                <a:path w="2242235" h="2665362">
                  <a:moveTo>
                    <a:pt x="0" y="0"/>
                  </a:moveTo>
                  <a:lnTo>
                    <a:pt x="2242236" y="0"/>
                  </a:lnTo>
                  <a:lnTo>
                    <a:pt x="2242236" y="2665362"/>
                  </a:lnTo>
                  <a:lnTo>
                    <a:pt x="0" y="26653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05477" y="653944"/>
              <a:ext cx="8806312" cy="32061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141"/>
                </a:lnSpc>
                <a:spcBef>
                  <a:spcPct val="0"/>
                </a:spcBef>
              </a:pPr>
              <a:r>
                <a:rPr lang="en-US" sz="16025" dirty="0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100000">
                        <a:srgbClr val="32ACC7">
                          <a:alpha val="100000"/>
                        </a:srgbClr>
                      </a:gs>
                    </a:gsLst>
                    <a:lin ang="5400000"/>
                  </a:gradFill>
                  <a:latin typeface="Tallow Sans Brush"/>
                  <a:ea typeface="Tallow Sans Brush"/>
                  <a:cs typeface="Tallow Sans Brush"/>
                  <a:sym typeface="Tallow Sans Brush"/>
                </a:rPr>
                <a:t>IDEAPOLIS</a:t>
              </a:r>
            </a:p>
          </p:txBody>
        </p:sp>
        <p:sp>
          <p:nvSpPr>
            <p:cNvPr id="7" name="TextBox 7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843788" y="3225025"/>
              <a:ext cx="6404351" cy="7247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87"/>
                </a:lnSpc>
                <a:spcBef>
                  <a:spcPct val="0"/>
                </a:spcBef>
              </a:pPr>
              <a:r>
                <a:rPr lang="en-US" sz="3205" spc="532">
                  <a:gradFill>
                    <a:gsLst>
                      <a:gs pos="0">
                        <a:srgbClr val="32ACC7">
                          <a:alpha val="100000"/>
                        </a:srgbClr>
                      </a:gs>
                      <a:gs pos="100000">
                        <a:srgbClr val="000000">
                          <a:alpha val="100000"/>
                        </a:srgbClr>
                      </a:gs>
                    </a:gsLst>
                    <a:lin ang="5400000"/>
                  </a:gradFill>
                  <a:latin typeface="Tallow Regular"/>
                  <a:ea typeface="Tallow Regular"/>
                  <a:cs typeface="Tallow Regular"/>
                  <a:sym typeface="Tallow Regular"/>
                </a:rPr>
                <a:t>IDEATE, ITERATE, INNOVATE</a:t>
              </a:r>
            </a:p>
          </p:txBody>
        </p:sp>
      </p:grpSp>
      <p:grpSp>
        <p:nvGrpSpPr>
          <p:cNvPr id="8" name="Group 8"/>
          <p:cNvGrpSpPr>
            <a:grpSpLocks noGrp="1" noUngrp="1" noRot="1" noMove="1" noResize="1"/>
          </p:cNvGrpSpPr>
          <p:nvPr/>
        </p:nvGrpSpPr>
        <p:grpSpPr>
          <a:xfrm>
            <a:off x="0" y="95250"/>
            <a:ext cx="18222814" cy="1347637"/>
            <a:chOff x="0" y="0"/>
            <a:chExt cx="24297086" cy="1796849"/>
          </a:xfrm>
        </p:grpSpPr>
        <p:sp>
          <p:nvSpPr>
            <p:cNvPr id="9" name="Freeform 9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748690" y="0"/>
              <a:ext cx="1548396" cy="1687785"/>
            </a:xfrm>
            <a:custGeom>
              <a:avLst/>
              <a:gdLst/>
              <a:ahLst/>
              <a:cxnLst/>
              <a:rect l="l" t="t" r="r" b="b"/>
              <a:pathLst>
                <a:path w="1548396" h="1687785">
                  <a:moveTo>
                    <a:pt x="0" y="0"/>
                  </a:moveTo>
                  <a:lnTo>
                    <a:pt x="1548396" y="0"/>
                  </a:lnTo>
                  <a:lnTo>
                    <a:pt x="1548396" y="1687785"/>
                  </a:lnTo>
                  <a:lnTo>
                    <a:pt x="0" y="1687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969" r="-4969" b="-859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630716" y="305776"/>
              <a:ext cx="4907117" cy="400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4"/>
                </a:lnSpc>
              </a:pPr>
              <a:r>
                <a:rPr lang="en-US" sz="2062" b="1" spc="-117" dirty="0">
                  <a:solidFill>
                    <a:srgbClr val="004AAD"/>
                  </a:solidFill>
                  <a:latin typeface="Mont Bold"/>
                  <a:ea typeface="Mont Bold"/>
                  <a:cs typeface="Mont Bold"/>
                  <a:sym typeface="Mont Bold"/>
                </a:rPr>
                <a:t>ACM HITK STUDENT CHAPTER</a:t>
              </a:r>
            </a:p>
          </p:txBody>
        </p:sp>
        <p:sp>
          <p:nvSpPr>
            <p:cNvPr id="11" name="TextBox 11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735916" y="781842"/>
              <a:ext cx="4696719" cy="5334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602"/>
                </a:lnSpc>
                <a:spcBef>
                  <a:spcPct val="0"/>
                </a:spcBef>
              </a:pPr>
              <a:r>
                <a:rPr lang="en-US" sz="1415" b="1">
                  <a:solidFill>
                    <a:srgbClr val="004AA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Association of Computing Machinery</a:t>
              </a:r>
            </a:p>
            <a:p>
              <a:pPr marL="0" lvl="0" indent="0" algn="ctr">
                <a:lnSpc>
                  <a:spcPts val="1602"/>
                </a:lnSpc>
                <a:spcBef>
                  <a:spcPct val="0"/>
                </a:spcBef>
              </a:pPr>
              <a:r>
                <a:rPr lang="en-US" sz="1415" b="1" u="none" strike="noStrike">
                  <a:solidFill>
                    <a:srgbClr val="004AA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Heritage Institute of Technology</a:t>
              </a:r>
            </a:p>
          </p:txBody>
        </p:sp>
        <p:sp>
          <p:nvSpPr>
            <p:cNvPr id="12" name="AutoShape 1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640977" y="0"/>
              <a:ext cx="0" cy="1687785"/>
            </a:xfrm>
            <a:prstGeom prst="line">
              <a:avLst/>
            </a:prstGeom>
            <a:ln w="25170" cap="flat">
              <a:solidFill>
                <a:srgbClr val="004AA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877728" cy="1796849"/>
            </a:xfrm>
            <a:custGeom>
              <a:avLst/>
              <a:gdLst/>
              <a:ahLst/>
              <a:cxnLst/>
              <a:rect l="l" t="t" r="r" b="b"/>
              <a:pathLst>
                <a:path w="1877728" h="1796849">
                  <a:moveTo>
                    <a:pt x="0" y="0"/>
                  </a:moveTo>
                  <a:lnTo>
                    <a:pt x="1877728" y="0"/>
                  </a:lnTo>
                  <a:lnTo>
                    <a:pt x="1877728" y="1796849"/>
                  </a:lnTo>
                  <a:lnTo>
                    <a:pt x="0" y="17968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6" t="-1707" b="-1131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4359893"/>
            <a:ext cx="10800473" cy="3694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1948" lvl="1" indent="-345974" algn="l">
              <a:lnSpc>
                <a:spcPts val="3627"/>
              </a:lnSpc>
              <a:buFont typeface="Arial"/>
              <a:buChar char="•"/>
            </a:pPr>
            <a:r>
              <a:rPr lang="en-US" sz="3204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Technology Stack:</a:t>
            </a:r>
            <a:r>
              <a:rPr lang="en-US" sz="320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Core frameworks, languages, APIs, databases, and datasets used.</a:t>
            </a:r>
          </a:p>
          <a:p>
            <a:pPr marL="691948" lvl="1" indent="-345974" algn="l">
              <a:lnSpc>
                <a:spcPts val="3627"/>
              </a:lnSpc>
              <a:buFont typeface="Arial"/>
              <a:buChar char="•"/>
            </a:pPr>
            <a:r>
              <a:rPr lang="en-US" sz="3204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Architecture</a:t>
            </a:r>
            <a:r>
              <a:rPr lang="en-US" sz="320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High-level diagram showing workflow, data flow, and component interaction.</a:t>
            </a:r>
          </a:p>
          <a:p>
            <a:pPr marL="691948" lvl="1" indent="-345974" algn="l">
              <a:lnSpc>
                <a:spcPts val="3627"/>
              </a:lnSpc>
              <a:buFont typeface="Arial"/>
              <a:buChar char="•"/>
            </a:pPr>
            <a:r>
              <a:rPr lang="en-US" sz="3204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Innovation Layer:</a:t>
            </a:r>
            <a:r>
              <a:rPr lang="en-US" sz="320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Advanced technologies leveraged (AI/ML, Blockchain, AR/VR, IoT, etc.).</a:t>
            </a:r>
          </a:p>
          <a:p>
            <a:pPr marL="691948" lvl="1" indent="-345974" algn="l">
              <a:lnSpc>
                <a:spcPts val="3627"/>
              </a:lnSpc>
              <a:spcBef>
                <a:spcPct val="0"/>
              </a:spcBef>
              <a:buFont typeface="Arial"/>
              <a:buChar char="•"/>
            </a:pPr>
            <a:r>
              <a:rPr lang="en-US" sz="3204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Scalability &amp; Security:</a:t>
            </a:r>
            <a:r>
              <a:rPr lang="en-US" sz="320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Deployment strategy, performance optimization, and data protection measures.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124869" y="2849657"/>
            <a:ext cx="6090616" cy="7584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73"/>
              </a:lnSpc>
              <a:spcBef>
                <a:spcPct val="0"/>
              </a:spcBef>
            </a:pPr>
            <a:r>
              <a:rPr lang="en-US" sz="5099" b="1" dirty="0">
                <a:solidFill>
                  <a:srgbClr val="000000">
                    <a:alpha val="69804"/>
                  </a:srgb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Approach</a:t>
            </a:r>
          </a:p>
        </p:txBody>
      </p:sp>
      <p:grpSp>
        <p:nvGrpSpPr>
          <p:cNvPr id="24" name="Group 15">
            <a:extLst>
              <a:ext uri="{FF2B5EF4-FFF2-40B4-BE49-F238E27FC236}">
                <a16:creationId xmlns:a16="http://schemas.microsoft.com/office/drawing/2014/main" id="{4243668E-0E34-257B-41E6-EC6AC6584492}"/>
              </a:ext>
            </a:extLst>
          </p:cNvPr>
          <p:cNvGrpSpPr/>
          <p:nvPr/>
        </p:nvGrpSpPr>
        <p:grpSpPr>
          <a:xfrm>
            <a:off x="0" y="9588683"/>
            <a:ext cx="18288000" cy="698318"/>
            <a:chOff x="0" y="0"/>
            <a:chExt cx="24858955" cy="1590129"/>
          </a:xfrm>
        </p:grpSpPr>
        <p:grpSp>
          <p:nvGrpSpPr>
            <p:cNvPr id="25" name="Group 16">
              <a:extLst>
                <a:ext uri="{FF2B5EF4-FFF2-40B4-BE49-F238E27FC236}">
                  <a16:creationId xmlns:a16="http://schemas.microsoft.com/office/drawing/2014/main" id="{F2872A7E-ADA3-4BEB-9A1A-44585E26791F}"/>
                </a:ext>
              </a:extLst>
            </p:cNvPr>
            <p:cNvGrpSpPr/>
            <p:nvPr/>
          </p:nvGrpSpPr>
          <p:grpSpPr>
            <a:xfrm>
              <a:off x="0" y="0"/>
              <a:ext cx="24858955" cy="1590129"/>
              <a:chOff x="0" y="0"/>
              <a:chExt cx="3836258" cy="245390"/>
            </a:xfrm>
          </p:grpSpPr>
          <p:sp>
            <p:nvSpPr>
              <p:cNvPr id="29" name="Freeform 17">
                <a:extLst>
                  <a:ext uri="{FF2B5EF4-FFF2-40B4-BE49-F238E27FC236}">
                    <a16:creationId xmlns:a16="http://schemas.microsoft.com/office/drawing/2014/main" id="{FD1F85EC-E778-6AF5-0FAC-8DA540F6CEB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0"/>
                <a:ext cx="3836258" cy="245390"/>
              </a:xfrm>
              <a:custGeom>
                <a:avLst/>
                <a:gdLst/>
                <a:ahLst/>
                <a:cxnLst/>
                <a:rect l="l" t="t" r="r" b="b"/>
                <a:pathLst>
                  <a:path w="3836258" h="245390">
                    <a:moveTo>
                      <a:pt x="8110" y="0"/>
                    </a:moveTo>
                    <a:lnTo>
                      <a:pt x="3828148" y="0"/>
                    </a:lnTo>
                    <a:cubicBezTo>
                      <a:pt x="3830299" y="0"/>
                      <a:pt x="3832362" y="854"/>
                      <a:pt x="3833883" y="2375"/>
                    </a:cubicBezTo>
                    <a:cubicBezTo>
                      <a:pt x="3835404" y="3896"/>
                      <a:pt x="3836258" y="5959"/>
                      <a:pt x="3836258" y="8110"/>
                    </a:cubicBezTo>
                    <a:lnTo>
                      <a:pt x="3836258" y="237280"/>
                    </a:lnTo>
                    <a:cubicBezTo>
                      <a:pt x="3836258" y="239431"/>
                      <a:pt x="3835404" y="241494"/>
                      <a:pt x="3833883" y="243015"/>
                    </a:cubicBezTo>
                    <a:cubicBezTo>
                      <a:pt x="3832362" y="244536"/>
                      <a:pt x="3830299" y="245390"/>
                      <a:pt x="3828148" y="245390"/>
                    </a:cubicBezTo>
                    <a:lnTo>
                      <a:pt x="8110" y="245390"/>
                    </a:lnTo>
                    <a:cubicBezTo>
                      <a:pt x="5959" y="245390"/>
                      <a:pt x="3896" y="244536"/>
                      <a:pt x="2375" y="243015"/>
                    </a:cubicBezTo>
                    <a:cubicBezTo>
                      <a:pt x="854" y="241494"/>
                      <a:pt x="0" y="239431"/>
                      <a:pt x="0" y="237280"/>
                    </a:cubicBezTo>
                    <a:lnTo>
                      <a:pt x="0" y="8110"/>
                    </a:lnTo>
                    <a:cubicBezTo>
                      <a:pt x="0" y="5959"/>
                      <a:pt x="854" y="3896"/>
                      <a:pt x="2375" y="2375"/>
                    </a:cubicBezTo>
                    <a:cubicBezTo>
                      <a:pt x="3896" y="854"/>
                      <a:pt x="5959" y="0"/>
                      <a:pt x="8110" y="0"/>
                    </a:cubicBezTo>
                    <a:close/>
                  </a:path>
                </a:pathLst>
              </a:custGeom>
              <a:solidFill>
                <a:srgbClr val="ABD6F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TextBox 18">
                <a:extLst>
                  <a:ext uri="{FF2B5EF4-FFF2-40B4-BE49-F238E27FC236}">
                    <a16:creationId xmlns:a16="http://schemas.microsoft.com/office/drawing/2014/main" id="{34754591-69CC-F98C-619F-5A62EFB920F0}"/>
                  </a:ext>
                </a:extLst>
              </p:cNvPr>
              <p:cNvSpPr txBox="1"/>
              <p:nvPr/>
            </p:nvSpPr>
            <p:spPr>
              <a:xfrm>
                <a:off x="0" y="0"/>
                <a:ext cx="3836258" cy="2453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02"/>
                  </a:lnSpc>
                </a:pPr>
                <a:endParaRPr/>
              </a:p>
            </p:txBody>
          </p:sp>
        </p:grpSp>
        <p:sp>
          <p:nvSpPr>
            <p:cNvPr id="26" name="TextBox 19">
              <a:extLst>
                <a:ext uri="{FF2B5EF4-FFF2-40B4-BE49-F238E27FC236}">
                  <a16:creationId xmlns:a16="http://schemas.microsoft.com/office/drawing/2014/main" id="{283E6631-0FF3-EC79-908F-FF7EB080F10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66988" y="310230"/>
              <a:ext cx="3924979" cy="7884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16"/>
                </a:lnSpc>
              </a:pPr>
              <a:r>
                <a:rPr lang="en-US" sz="2400" b="1" u="sng" dirty="0">
                  <a:solidFill>
                    <a:srgbClr val="00206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  <a:hlinkClick r:id="rId8" tooltip="https://hitk.acm.org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https://hitk.acm.org/</a:t>
              </a:r>
            </a:p>
          </p:txBody>
        </p:sp>
        <p:sp>
          <p:nvSpPr>
            <p:cNvPr id="27" name="TextBox 20">
              <a:extLst>
                <a:ext uri="{FF2B5EF4-FFF2-40B4-BE49-F238E27FC236}">
                  <a16:creationId xmlns:a16="http://schemas.microsoft.com/office/drawing/2014/main" id="{F9A68010-8D61-3272-2DB6-83F428D88C3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389862" y="300111"/>
              <a:ext cx="2103289" cy="7884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16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Page | 5</a:t>
              </a:r>
            </a:p>
          </p:txBody>
        </p:sp>
        <p:sp>
          <p:nvSpPr>
            <p:cNvPr id="28" name="TextBox 21">
              <a:extLst>
                <a:ext uri="{FF2B5EF4-FFF2-40B4-BE49-F238E27FC236}">
                  <a16:creationId xmlns:a16="http://schemas.microsoft.com/office/drawing/2014/main" id="{42E1E2B2-364E-183F-B21E-B50FF7E99C0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5804" y="310230"/>
              <a:ext cx="5746980" cy="7884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16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  <a:hlinkClick r:id="rId9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Heritage Institute of Technology</a:t>
              </a:r>
              <a:endParaRPr lang="en-US" sz="2400" b="1" dirty="0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14126692" y="5094963"/>
            <a:ext cx="3771072" cy="4655644"/>
          </a:xfrm>
          <a:custGeom>
            <a:avLst/>
            <a:gdLst/>
            <a:ahLst/>
            <a:cxnLst/>
            <a:rect l="l" t="t" r="r" b="b"/>
            <a:pathLst>
              <a:path w="3771072" h="4655644">
                <a:moveTo>
                  <a:pt x="0" y="0"/>
                </a:moveTo>
                <a:lnTo>
                  <a:pt x="3771072" y="0"/>
                </a:lnTo>
                <a:lnTo>
                  <a:pt x="3771072" y="4655644"/>
                </a:lnTo>
                <a:lnTo>
                  <a:pt x="0" y="465564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87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62565" y="2744785"/>
            <a:ext cx="7362871" cy="6238553"/>
          </a:xfrm>
          <a:custGeom>
            <a:avLst/>
            <a:gdLst/>
            <a:ahLst/>
            <a:cxnLst/>
            <a:rect l="l" t="t" r="r" b="b"/>
            <a:pathLst>
              <a:path w="7362871" h="6238553">
                <a:moveTo>
                  <a:pt x="0" y="0"/>
                </a:moveTo>
                <a:lnTo>
                  <a:pt x="7362870" y="0"/>
                </a:lnTo>
                <a:lnTo>
                  <a:pt x="7362870" y="6238554"/>
                </a:lnTo>
                <a:lnTo>
                  <a:pt x="0" y="62385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-4689" t="-11018" r="-7082" b="-20896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>
            <a:grpSpLocks noGrp="1" noUngrp="1" noRot="1" noMove="1" noResize="1"/>
          </p:cNvGrpSpPr>
          <p:nvPr/>
        </p:nvGrpSpPr>
        <p:grpSpPr>
          <a:xfrm>
            <a:off x="5338702" y="-190500"/>
            <a:ext cx="7610596" cy="3031582"/>
            <a:chOff x="0" y="0"/>
            <a:chExt cx="10147461" cy="4042110"/>
          </a:xfrm>
        </p:grpSpPr>
        <p:sp>
          <p:nvSpPr>
            <p:cNvPr id="4" name="Freeform 4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318876">
              <a:off x="8047816" y="1939885"/>
              <a:ext cx="1823961" cy="1827283"/>
            </a:xfrm>
            <a:custGeom>
              <a:avLst/>
              <a:gdLst/>
              <a:ahLst/>
              <a:cxnLst/>
              <a:rect l="l" t="t" r="r" b="b"/>
              <a:pathLst>
                <a:path w="1823961" h="1827283">
                  <a:moveTo>
                    <a:pt x="0" y="0"/>
                  </a:moveTo>
                  <a:lnTo>
                    <a:pt x="1823961" y="0"/>
                  </a:lnTo>
                  <a:lnTo>
                    <a:pt x="1823961" y="1827283"/>
                  </a:lnTo>
                  <a:lnTo>
                    <a:pt x="0" y="1827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Freeform 5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1050320">
              <a:off x="348943" y="275508"/>
              <a:ext cx="2242235" cy="2665362"/>
            </a:xfrm>
            <a:custGeom>
              <a:avLst/>
              <a:gdLst/>
              <a:ahLst/>
              <a:cxnLst/>
              <a:rect l="l" t="t" r="r" b="b"/>
              <a:pathLst>
                <a:path w="2242235" h="2665362">
                  <a:moveTo>
                    <a:pt x="0" y="0"/>
                  </a:moveTo>
                  <a:lnTo>
                    <a:pt x="2242236" y="0"/>
                  </a:lnTo>
                  <a:lnTo>
                    <a:pt x="2242236" y="2665362"/>
                  </a:lnTo>
                  <a:lnTo>
                    <a:pt x="0" y="26653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05477" y="653944"/>
              <a:ext cx="8806312" cy="32061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141"/>
                </a:lnSpc>
                <a:spcBef>
                  <a:spcPct val="0"/>
                </a:spcBef>
              </a:pPr>
              <a:r>
                <a:rPr lang="en-US" sz="16025" dirty="0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100000">
                        <a:srgbClr val="32ACC7">
                          <a:alpha val="100000"/>
                        </a:srgbClr>
                      </a:gs>
                    </a:gsLst>
                    <a:lin ang="5400000"/>
                  </a:gradFill>
                  <a:latin typeface="Tallow Sans Brush"/>
                  <a:ea typeface="Tallow Sans Brush"/>
                  <a:cs typeface="Tallow Sans Brush"/>
                  <a:sym typeface="Tallow Sans Brush"/>
                </a:rPr>
                <a:t>IDEAPOLIS</a:t>
              </a:r>
            </a:p>
          </p:txBody>
        </p:sp>
        <p:sp>
          <p:nvSpPr>
            <p:cNvPr id="7" name="TextBox 7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843788" y="3225025"/>
              <a:ext cx="6404351" cy="7247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87"/>
                </a:lnSpc>
                <a:spcBef>
                  <a:spcPct val="0"/>
                </a:spcBef>
              </a:pPr>
              <a:r>
                <a:rPr lang="en-US" sz="3205" spc="532" dirty="0">
                  <a:gradFill>
                    <a:gsLst>
                      <a:gs pos="0">
                        <a:srgbClr val="32ACC7">
                          <a:alpha val="100000"/>
                        </a:srgbClr>
                      </a:gs>
                      <a:gs pos="100000">
                        <a:srgbClr val="000000">
                          <a:alpha val="100000"/>
                        </a:srgbClr>
                      </a:gs>
                    </a:gsLst>
                    <a:lin ang="5400000"/>
                  </a:gradFill>
                  <a:latin typeface="Tallow Regular"/>
                  <a:ea typeface="Tallow Regular"/>
                  <a:cs typeface="Tallow Regular"/>
                  <a:sym typeface="Tallow Regular"/>
                </a:rPr>
                <a:t>IDEATE, ITERATE, INNOVATE</a:t>
              </a:r>
            </a:p>
          </p:txBody>
        </p:sp>
      </p:grpSp>
      <p:grpSp>
        <p:nvGrpSpPr>
          <p:cNvPr id="8" name="Group 8"/>
          <p:cNvGrpSpPr>
            <a:grpSpLocks noGrp="1" noUngrp="1" noRot="1" noMove="1" noResize="1"/>
          </p:cNvGrpSpPr>
          <p:nvPr/>
        </p:nvGrpSpPr>
        <p:grpSpPr>
          <a:xfrm>
            <a:off x="0" y="95250"/>
            <a:ext cx="18222814" cy="1347637"/>
            <a:chOff x="0" y="0"/>
            <a:chExt cx="24297086" cy="1796849"/>
          </a:xfrm>
        </p:grpSpPr>
        <p:sp>
          <p:nvSpPr>
            <p:cNvPr id="9" name="Freeform 9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748690" y="0"/>
              <a:ext cx="1548396" cy="1687785"/>
            </a:xfrm>
            <a:custGeom>
              <a:avLst/>
              <a:gdLst/>
              <a:ahLst/>
              <a:cxnLst/>
              <a:rect l="l" t="t" r="r" b="b"/>
              <a:pathLst>
                <a:path w="1548396" h="1687785">
                  <a:moveTo>
                    <a:pt x="0" y="0"/>
                  </a:moveTo>
                  <a:lnTo>
                    <a:pt x="1548396" y="0"/>
                  </a:lnTo>
                  <a:lnTo>
                    <a:pt x="1548396" y="1687785"/>
                  </a:lnTo>
                  <a:lnTo>
                    <a:pt x="0" y="1687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969" r="-4969" b="-859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630716" y="305776"/>
              <a:ext cx="4907117" cy="400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4"/>
                </a:lnSpc>
              </a:pPr>
              <a:r>
                <a:rPr lang="en-US" sz="2062" b="1" spc="-117" dirty="0">
                  <a:solidFill>
                    <a:srgbClr val="004AAD"/>
                  </a:solidFill>
                  <a:latin typeface="Mont Bold"/>
                  <a:ea typeface="Mont Bold"/>
                  <a:cs typeface="Mont Bold"/>
                  <a:sym typeface="Mont Bold"/>
                </a:rPr>
                <a:t>ACM HITK STUDENT CHAPTER</a:t>
              </a:r>
            </a:p>
          </p:txBody>
        </p:sp>
        <p:sp>
          <p:nvSpPr>
            <p:cNvPr id="11" name="TextBox 11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735916" y="781842"/>
              <a:ext cx="4696719" cy="5334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602"/>
                </a:lnSpc>
                <a:spcBef>
                  <a:spcPct val="0"/>
                </a:spcBef>
              </a:pPr>
              <a:r>
                <a:rPr lang="en-US" sz="1415" b="1">
                  <a:solidFill>
                    <a:srgbClr val="004AA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Association of Computing Machinery</a:t>
              </a:r>
            </a:p>
            <a:p>
              <a:pPr marL="0" lvl="0" indent="0" algn="ctr">
                <a:lnSpc>
                  <a:spcPts val="1602"/>
                </a:lnSpc>
                <a:spcBef>
                  <a:spcPct val="0"/>
                </a:spcBef>
              </a:pPr>
              <a:r>
                <a:rPr lang="en-US" sz="1415" b="1" u="none" strike="noStrike">
                  <a:solidFill>
                    <a:srgbClr val="004AA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Heritage Institute of Technology</a:t>
              </a:r>
            </a:p>
          </p:txBody>
        </p:sp>
        <p:sp>
          <p:nvSpPr>
            <p:cNvPr id="12" name="AutoShape 1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640977" y="0"/>
              <a:ext cx="0" cy="1687785"/>
            </a:xfrm>
            <a:prstGeom prst="line">
              <a:avLst/>
            </a:prstGeom>
            <a:ln w="25170" cap="flat">
              <a:solidFill>
                <a:srgbClr val="004AA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877728" cy="1796849"/>
            </a:xfrm>
            <a:custGeom>
              <a:avLst/>
              <a:gdLst/>
              <a:ahLst/>
              <a:cxnLst/>
              <a:rect l="l" t="t" r="r" b="b"/>
              <a:pathLst>
                <a:path w="1877728" h="1796849">
                  <a:moveTo>
                    <a:pt x="0" y="0"/>
                  </a:moveTo>
                  <a:lnTo>
                    <a:pt x="1877728" y="0"/>
                  </a:lnTo>
                  <a:lnTo>
                    <a:pt x="1877728" y="1796849"/>
                  </a:lnTo>
                  <a:lnTo>
                    <a:pt x="0" y="17968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6" t="-1707" b="-1131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28700" y="4819918"/>
            <a:ext cx="10397524" cy="2780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1948" lvl="1" indent="-345974" algn="l">
              <a:lnSpc>
                <a:spcPts val="3627"/>
              </a:lnSpc>
              <a:spcBef>
                <a:spcPct val="0"/>
              </a:spcBef>
              <a:buFont typeface="Arial"/>
              <a:buChar char="•"/>
            </a:pPr>
            <a:r>
              <a:rPr lang="en-US" sz="3204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 &amp; Risks</a:t>
            </a:r>
            <a:r>
              <a:rPr lang="en-US" sz="320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Technical viability, key challenges, and mitigation plan.</a:t>
            </a:r>
          </a:p>
          <a:p>
            <a:pPr marL="691948" lvl="1" indent="-345974" algn="l">
              <a:lnSpc>
                <a:spcPts val="3627"/>
              </a:lnSpc>
              <a:spcBef>
                <a:spcPct val="0"/>
              </a:spcBef>
              <a:buFont typeface="Arial"/>
              <a:buChar char="•"/>
            </a:pPr>
            <a:r>
              <a:rPr lang="en-US" sz="3204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Growth &amp; Scalability</a:t>
            </a:r>
            <a:r>
              <a:rPr lang="en-US" sz="320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Future enhancements, expansion strategy, and integrations.</a:t>
            </a:r>
          </a:p>
          <a:p>
            <a:pPr marL="691948" lvl="1" indent="-345974" algn="l">
              <a:lnSpc>
                <a:spcPts val="3627"/>
              </a:lnSpc>
              <a:spcBef>
                <a:spcPct val="0"/>
              </a:spcBef>
              <a:buFont typeface="Arial"/>
              <a:buChar char="•"/>
            </a:pPr>
            <a:r>
              <a:rPr lang="en-US" sz="3204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Business &amp; Sustainability</a:t>
            </a:r>
            <a:r>
              <a:rPr lang="en-US" sz="320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Revenue model, funding strategy, and long-term sustainability.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912004" y="3009900"/>
            <a:ext cx="12516346" cy="7584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73"/>
              </a:lnSpc>
              <a:spcBef>
                <a:spcPct val="0"/>
              </a:spcBef>
            </a:pPr>
            <a:r>
              <a:rPr lang="en-US" sz="5099" b="1" dirty="0">
                <a:solidFill>
                  <a:srgbClr val="000000">
                    <a:alpha val="69804"/>
                  </a:srgb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Deployment Strategy &amp; Long Term Impact</a:t>
            </a:r>
          </a:p>
        </p:txBody>
      </p:sp>
      <p:grpSp>
        <p:nvGrpSpPr>
          <p:cNvPr id="24" name="Group 15">
            <a:extLst>
              <a:ext uri="{FF2B5EF4-FFF2-40B4-BE49-F238E27FC236}">
                <a16:creationId xmlns:a16="http://schemas.microsoft.com/office/drawing/2014/main" id="{AF02B608-6EC5-1A98-1968-5F5AC633ADB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9588683"/>
            <a:ext cx="18288000" cy="698318"/>
            <a:chOff x="0" y="0"/>
            <a:chExt cx="24858955" cy="1590129"/>
          </a:xfrm>
        </p:grpSpPr>
        <p:grpSp>
          <p:nvGrpSpPr>
            <p:cNvPr id="25" name="Group 16">
              <a:extLst>
                <a:ext uri="{FF2B5EF4-FFF2-40B4-BE49-F238E27FC236}">
                  <a16:creationId xmlns:a16="http://schemas.microsoft.com/office/drawing/2014/main" id="{31D549D5-8CAC-928A-AADD-5E811D36668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0" y="0"/>
              <a:ext cx="24858955" cy="1590129"/>
              <a:chOff x="0" y="0"/>
              <a:chExt cx="3836258" cy="245390"/>
            </a:xfrm>
          </p:grpSpPr>
          <p:sp>
            <p:nvSpPr>
              <p:cNvPr id="29" name="Freeform 17">
                <a:extLst>
                  <a:ext uri="{FF2B5EF4-FFF2-40B4-BE49-F238E27FC236}">
                    <a16:creationId xmlns:a16="http://schemas.microsoft.com/office/drawing/2014/main" id="{2F1E1DA4-E52A-1CEB-8293-8D160590858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0"/>
                <a:ext cx="3836258" cy="245390"/>
              </a:xfrm>
              <a:custGeom>
                <a:avLst/>
                <a:gdLst/>
                <a:ahLst/>
                <a:cxnLst/>
                <a:rect l="l" t="t" r="r" b="b"/>
                <a:pathLst>
                  <a:path w="3836258" h="245390">
                    <a:moveTo>
                      <a:pt x="8110" y="0"/>
                    </a:moveTo>
                    <a:lnTo>
                      <a:pt x="3828148" y="0"/>
                    </a:lnTo>
                    <a:cubicBezTo>
                      <a:pt x="3830299" y="0"/>
                      <a:pt x="3832362" y="854"/>
                      <a:pt x="3833883" y="2375"/>
                    </a:cubicBezTo>
                    <a:cubicBezTo>
                      <a:pt x="3835404" y="3896"/>
                      <a:pt x="3836258" y="5959"/>
                      <a:pt x="3836258" y="8110"/>
                    </a:cubicBezTo>
                    <a:lnTo>
                      <a:pt x="3836258" y="237280"/>
                    </a:lnTo>
                    <a:cubicBezTo>
                      <a:pt x="3836258" y="239431"/>
                      <a:pt x="3835404" y="241494"/>
                      <a:pt x="3833883" y="243015"/>
                    </a:cubicBezTo>
                    <a:cubicBezTo>
                      <a:pt x="3832362" y="244536"/>
                      <a:pt x="3830299" y="245390"/>
                      <a:pt x="3828148" y="245390"/>
                    </a:cubicBezTo>
                    <a:lnTo>
                      <a:pt x="8110" y="245390"/>
                    </a:lnTo>
                    <a:cubicBezTo>
                      <a:pt x="5959" y="245390"/>
                      <a:pt x="3896" y="244536"/>
                      <a:pt x="2375" y="243015"/>
                    </a:cubicBezTo>
                    <a:cubicBezTo>
                      <a:pt x="854" y="241494"/>
                      <a:pt x="0" y="239431"/>
                      <a:pt x="0" y="237280"/>
                    </a:cubicBezTo>
                    <a:lnTo>
                      <a:pt x="0" y="8110"/>
                    </a:lnTo>
                    <a:cubicBezTo>
                      <a:pt x="0" y="5959"/>
                      <a:pt x="854" y="3896"/>
                      <a:pt x="2375" y="2375"/>
                    </a:cubicBezTo>
                    <a:cubicBezTo>
                      <a:pt x="3896" y="854"/>
                      <a:pt x="5959" y="0"/>
                      <a:pt x="8110" y="0"/>
                    </a:cubicBezTo>
                    <a:close/>
                  </a:path>
                </a:pathLst>
              </a:custGeom>
              <a:solidFill>
                <a:srgbClr val="ABD6F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TextBox 18">
                <a:extLst>
                  <a:ext uri="{FF2B5EF4-FFF2-40B4-BE49-F238E27FC236}">
                    <a16:creationId xmlns:a16="http://schemas.microsoft.com/office/drawing/2014/main" id="{80D90D4F-0187-E39B-B024-F09A16349D53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0"/>
                <a:ext cx="3836258" cy="2453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02"/>
                  </a:lnSpc>
                </a:pPr>
                <a:endParaRPr/>
              </a:p>
            </p:txBody>
          </p:sp>
        </p:grpSp>
        <p:sp>
          <p:nvSpPr>
            <p:cNvPr id="26" name="TextBox 19">
              <a:extLst>
                <a:ext uri="{FF2B5EF4-FFF2-40B4-BE49-F238E27FC236}">
                  <a16:creationId xmlns:a16="http://schemas.microsoft.com/office/drawing/2014/main" id="{940C4950-1B3A-947F-E5FF-C98D27EEDAF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66988" y="310230"/>
              <a:ext cx="3924979" cy="7884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16"/>
                </a:lnSpc>
              </a:pPr>
              <a:r>
                <a:rPr lang="en-US" sz="2400" b="1" u="sng" dirty="0">
                  <a:solidFill>
                    <a:srgbClr val="00206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  <a:hlinkClick r:id="rId8" tooltip="https://hitk.acm.org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https://hitk.acm.org/</a:t>
              </a:r>
            </a:p>
          </p:txBody>
        </p:sp>
        <p:sp>
          <p:nvSpPr>
            <p:cNvPr id="27" name="TextBox 20">
              <a:extLst>
                <a:ext uri="{FF2B5EF4-FFF2-40B4-BE49-F238E27FC236}">
                  <a16:creationId xmlns:a16="http://schemas.microsoft.com/office/drawing/2014/main" id="{E6624EF1-98B0-31DD-2657-90321B6D6A5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389862" y="300111"/>
              <a:ext cx="2103289" cy="7884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16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Page | 6</a:t>
              </a:r>
            </a:p>
          </p:txBody>
        </p:sp>
        <p:sp>
          <p:nvSpPr>
            <p:cNvPr id="28" name="TextBox 21">
              <a:extLst>
                <a:ext uri="{FF2B5EF4-FFF2-40B4-BE49-F238E27FC236}">
                  <a16:creationId xmlns:a16="http://schemas.microsoft.com/office/drawing/2014/main" id="{FF064B4E-B3CF-C1D2-E047-82D63937D4D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5804" y="310230"/>
              <a:ext cx="5746980" cy="7884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16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  <a:hlinkClick r:id="rId9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Heritage Institute of Technology</a:t>
              </a:r>
              <a:endParaRPr lang="en-US" sz="2400" b="1" dirty="0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  <p:sp>
        <p:nvSpPr>
          <p:cNvPr id="14" name="Freeform 14"/>
          <p:cNvSpPr/>
          <p:nvPr/>
        </p:nvSpPr>
        <p:spPr>
          <a:xfrm>
            <a:off x="13851181" y="5473882"/>
            <a:ext cx="4371633" cy="4114800"/>
          </a:xfrm>
          <a:custGeom>
            <a:avLst/>
            <a:gdLst/>
            <a:ahLst/>
            <a:cxnLst/>
            <a:rect l="l" t="t" r="r" b="b"/>
            <a:pathLst>
              <a:path w="4371633" h="4114800">
                <a:moveTo>
                  <a:pt x="0" y="0"/>
                </a:moveTo>
                <a:lnTo>
                  <a:pt x="4371633" y="0"/>
                </a:lnTo>
                <a:lnTo>
                  <a:pt x="437163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Grp="1" noUngrp="1" noRot="1" noMove="1" noResize="1"/>
          </p:cNvGrpSpPr>
          <p:nvPr/>
        </p:nvGrpSpPr>
        <p:grpSpPr>
          <a:xfrm>
            <a:off x="0" y="95250"/>
            <a:ext cx="18222814" cy="1347637"/>
            <a:chOff x="0" y="0"/>
            <a:chExt cx="24297086" cy="1796849"/>
          </a:xfrm>
        </p:grpSpPr>
        <p:sp>
          <p:nvSpPr>
            <p:cNvPr id="3" name="Freeform 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748690" y="0"/>
              <a:ext cx="1548396" cy="1687785"/>
            </a:xfrm>
            <a:custGeom>
              <a:avLst/>
              <a:gdLst/>
              <a:ahLst/>
              <a:cxnLst/>
              <a:rect l="l" t="t" r="r" b="b"/>
              <a:pathLst>
                <a:path w="1548396" h="1687785">
                  <a:moveTo>
                    <a:pt x="0" y="0"/>
                  </a:moveTo>
                  <a:lnTo>
                    <a:pt x="1548396" y="0"/>
                  </a:lnTo>
                  <a:lnTo>
                    <a:pt x="1548396" y="1687785"/>
                  </a:lnTo>
                  <a:lnTo>
                    <a:pt x="0" y="1687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969" r="-4969" b="-859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630716" y="305776"/>
              <a:ext cx="4907117" cy="400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4"/>
                </a:lnSpc>
              </a:pPr>
              <a:r>
                <a:rPr lang="en-US" sz="2062" b="1" spc="-117" dirty="0">
                  <a:solidFill>
                    <a:srgbClr val="004AAD"/>
                  </a:solidFill>
                  <a:latin typeface="Mont Bold"/>
                  <a:ea typeface="Mont Bold"/>
                  <a:cs typeface="Mont Bold"/>
                  <a:sym typeface="Mont Bold"/>
                </a:rPr>
                <a:t>ACM HITK STUDENT CHAPTER</a:t>
              </a:r>
            </a:p>
          </p:txBody>
        </p:sp>
        <p:sp>
          <p:nvSpPr>
            <p:cNvPr id="5" name="TextBox 5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735916" y="781842"/>
              <a:ext cx="4696719" cy="5334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602"/>
                </a:lnSpc>
                <a:spcBef>
                  <a:spcPct val="0"/>
                </a:spcBef>
              </a:pPr>
              <a:r>
                <a:rPr lang="en-US" sz="1415" b="1">
                  <a:solidFill>
                    <a:srgbClr val="004AA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Association of Computing Machinery</a:t>
              </a:r>
            </a:p>
            <a:p>
              <a:pPr marL="0" lvl="0" indent="0" algn="ctr">
                <a:lnSpc>
                  <a:spcPts val="1602"/>
                </a:lnSpc>
                <a:spcBef>
                  <a:spcPct val="0"/>
                </a:spcBef>
              </a:pPr>
              <a:r>
                <a:rPr lang="en-US" sz="1415" b="1" u="none" strike="noStrike">
                  <a:solidFill>
                    <a:srgbClr val="004AA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Heritage Institute of Technology</a:t>
              </a:r>
            </a:p>
          </p:txBody>
        </p:sp>
        <p:sp>
          <p:nvSpPr>
            <p:cNvPr id="6" name="AutoShape 6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640977" y="0"/>
              <a:ext cx="0" cy="1687785"/>
            </a:xfrm>
            <a:prstGeom prst="line">
              <a:avLst/>
            </a:prstGeom>
            <a:ln w="25170" cap="flat">
              <a:solidFill>
                <a:srgbClr val="004AA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877728" cy="1796849"/>
            </a:xfrm>
            <a:custGeom>
              <a:avLst/>
              <a:gdLst/>
              <a:ahLst/>
              <a:cxnLst/>
              <a:rect l="l" t="t" r="r" b="b"/>
              <a:pathLst>
                <a:path w="1877728" h="1796849">
                  <a:moveTo>
                    <a:pt x="0" y="0"/>
                  </a:moveTo>
                  <a:lnTo>
                    <a:pt x="1877728" y="0"/>
                  </a:lnTo>
                  <a:lnTo>
                    <a:pt x="1877728" y="1796849"/>
                  </a:lnTo>
                  <a:lnTo>
                    <a:pt x="0" y="17968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6" t="-1707" b="-1131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Freeform 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62565" y="2744785"/>
            <a:ext cx="7362871" cy="6238553"/>
          </a:xfrm>
          <a:custGeom>
            <a:avLst/>
            <a:gdLst/>
            <a:ahLst/>
            <a:cxnLst/>
            <a:rect l="l" t="t" r="r" b="b"/>
            <a:pathLst>
              <a:path w="7362871" h="6238553">
                <a:moveTo>
                  <a:pt x="0" y="0"/>
                </a:moveTo>
                <a:lnTo>
                  <a:pt x="7362870" y="0"/>
                </a:lnTo>
                <a:lnTo>
                  <a:pt x="7362870" y="6238554"/>
                </a:lnTo>
                <a:lnTo>
                  <a:pt x="0" y="62385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</a:blip>
            <a:stretch>
              <a:fillRect l="-4689" t="-11018" r="-7082" b="-2089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5218966" y="3362847"/>
            <a:ext cx="7808416" cy="7584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73"/>
              </a:lnSpc>
              <a:spcBef>
                <a:spcPct val="0"/>
              </a:spcBef>
            </a:pPr>
            <a:r>
              <a:rPr lang="en-US" sz="5099" b="1" dirty="0">
                <a:solidFill>
                  <a:srgbClr val="000000">
                    <a:alpha val="69804"/>
                  </a:srgb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and References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3188539" y="3771900"/>
            <a:ext cx="6566044" cy="6821264"/>
            <a:chOff x="0" y="0"/>
            <a:chExt cx="8754725" cy="9095019"/>
          </a:xfrm>
        </p:grpSpPr>
        <p:grpSp>
          <p:nvGrpSpPr>
            <p:cNvPr id="11" name="Group 11"/>
            <p:cNvGrpSpPr/>
            <p:nvPr/>
          </p:nvGrpSpPr>
          <p:grpSpPr>
            <a:xfrm rot="5554190">
              <a:off x="3030632" y="1133082"/>
              <a:ext cx="2194542" cy="1932975"/>
              <a:chOff x="0" y="0"/>
              <a:chExt cx="812800" cy="71592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71592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5922">
                    <a:moveTo>
                      <a:pt x="812800" y="357961"/>
                    </a:moveTo>
                    <a:lnTo>
                      <a:pt x="609600" y="715922"/>
                    </a:lnTo>
                    <a:lnTo>
                      <a:pt x="203200" y="715922"/>
                    </a:lnTo>
                    <a:lnTo>
                      <a:pt x="0" y="357961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812800" y="357961"/>
                    </a:lnTo>
                    <a:close/>
                  </a:path>
                </a:pathLst>
              </a:custGeom>
              <a:solidFill>
                <a:srgbClr val="9FE1DC">
                  <a:alpha val="74902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14300" y="-200025"/>
                <a:ext cx="584200" cy="915947"/>
              </a:xfrm>
              <a:prstGeom prst="rect">
                <a:avLst/>
              </a:prstGeom>
            </p:spPr>
            <p:txBody>
              <a:bodyPr lIns="21071" tIns="21071" rIns="21071" bIns="21071" rtlCol="0" anchor="ctr"/>
              <a:lstStyle/>
              <a:p>
                <a:pPr algn="ctr">
                  <a:lnSpc>
                    <a:spcPts val="5700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5554190">
              <a:off x="4204133" y="3352448"/>
              <a:ext cx="2194542" cy="1932975"/>
              <a:chOff x="0" y="0"/>
              <a:chExt cx="812800" cy="715922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71592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5922">
                    <a:moveTo>
                      <a:pt x="812800" y="357961"/>
                    </a:moveTo>
                    <a:lnTo>
                      <a:pt x="609600" y="715922"/>
                    </a:lnTo>
                    <a:lnTo>
                      <a:pt x="203200" y="715922"/>
                    </a:lnTo>
                    <a:lnTo>
                      <a:pt x="0" y="357961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812800" y="357961"/>
                    </a:lnTo>
                    <a:close/>
                  </a:path>
                </a:pathLst>
              </a:custGeom>
              <a:solidFill>
                <a:srgbClr val="9FE1DC">
                  <a:alpha val="74902"/>
                </a:srgbClr>
              </a:solidFill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14300" y="-200025"/>
                <a:ext cx="584200" cy="915947"/>
              </a:xfrm>
              <a:prstGeom prst="rect">
                <a:avLst/>
              </a:prstGeom>
            </p:spPr>
            <p:txBody>
              <a:bodyPr lIns="21071" tIns="21071" rIns="21071" bIns="21071" rtlCol="0" anchor="ctr"/>
              <a:lstStyle/>
              <a:p>
                <a:pPr algn="ctr">
                  <a:lnSpc>
                    <a:spcPts val="5700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5554190">
              <a:off x="2837734" y="5419406"/>
              <a:ext cx="2194542" cy="1932975"/>
              <a:chOff x="0" y="0"/>
              <a:chExt cx="812800" cy="715922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71592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5922">
                    <a:moveTo>
                      <a:pt x="812800" y="357961"/>
                    </a:moveTo>
                    <a:lnTo>
                      <a:pt x="609600" y="715922"/>
                    </a:lnTo>
                    <a:lnTo>
                      <a:pt x="203200" y="715922"/>
                    </a:lnTo>
                    <a:lnTo>
                      <a:pt x="0" y="357961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812800" y="357961"/>
                    </a:lnTo>
                    <a:close/>
                  </a:path>
                </a:pathLst>
              </a:custGeom>
              <a:solidFill>
                <a:srgbClr val="9FE1DC">
                  <a:alpha val="74902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4300" y="-200025"/>
                <a:ext cx="584200" cy="915947"/>
              </a:xfrm>
              <a:prstGeom prst="rect">
                <a:avLst/>
              </a:prstGeom>
            </p:spPr>
            <p:txBody>
              <a:bodyPr lIns="21071" tIns="21071" rIns="21071" bIns="21071" rtlCol="0" anchor="ctr"/>
              <a:lstStyle/>
              <a:p>
                <a:pPr algn="ctr">
                  <a:lnSpc>
                    <a:spcPts val="5700"/>
                  </a:lnSpc>
                </a:pPr>
                <a:endParaRPr/>
              </a:p>
            </p:txBody>
          </p:sp>
        </p:grpSp>
        <p:sp>
          <p:nvSpPr>
            <p:cNvPr id="20" name="Freeform 20"/>
            <p:cNvSpPr/>
            <p:nvPr/>
          </p:nvSpPr>
          <p:spPr>
            <a:xfrm rot="1951894" flipH="1">
              <a:off x="1424353" y="1037246"/>
              <a:ext cx="5906019" cy="7020527"/>
            </a:xfrm>
            <a:custGeom>
              <a:avLst/>
              <a:gdLst/>
              <a:ahLst/>
              <a:cxnLst/>
              <a:rect l="l" t="t" r="r" b="b"/>
              <a:pathLst>
                <a:path w="5906019" h="7020527">
                  <a:moveTo>
                    <a:pt x="5906019" y="0"/>
                  </a:moveTo>
                  <a:lnTo>
                    <a:pt x="0" y="0"/>
                  </a:lnTo>
                  <a:lnTo>
                    <a:pt x="0" y="7020527"/>
                  </a:lnTo>
                  <a:lnTo>
                    <a:pt x="5906019" y="7020527"/>
                  </a:lnTo>
                  <a:lnTo>
                    <a:pt x="5906019" y="0"/>
                  </a:lnTo>
                  <a:close/>
                </a:path>
              </a:pathLst>
            </a:custGeom>
            <a:blipFill>
              <a:blip r:embed="rId5">
                <a:alphaModFix amt="5625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28700" y="4819817"/>
            <a:ext cx="12124060" cy="2088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35" lvl="1" indent="-388618" algn="l">
              <a:lnSpc>
                <a:spcPts val="4075"/>
              </a:lnSpc>
              <a:buFont typeface="Arial"/>
              <a:buChar char="•"/>
            </a:pPr>
            <a:r>
              <a:rPr lang="en-US" sz="3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Mention here the details and links of the references and research work you have referred to for this project.</a:t>
            </a:r>
          </a:p>
          <a:p>
            <a:pPr algn="l">
              <a:lnSpc>
                <a:spcPts val="4075"/>
              </a:lnSpc>
            </a:pPr>
            <a:endParaRPr lang="en-US" sz="35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7235" lvl="1" indent="-388618" algn="l">
              <a:lnSpc>
                <a:spcPts val="4075"/>
              </a:lnSpc>
              <a:buFont typeface="Arial"/>
              <a:buChar char="•"/>
            </a:pPr>
            <a:r>
              <a:rPr lang="en-US" sz="35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live link (GitHub/Demo) should be mentioned here.</a:t>
            </a:r>
          </a:p>
        </p:txBody>
      </p:sp>
      <p:grpSp>
        <p:nvGrpSpPr>
          <p:cNvPr id="22" name="Group 22"/>
          <p:cNvGrpSpPr>
            <a:grpSpLocks noGrp="1" noUngrp="1" noRot="1" noMove="1" noResize="1"/>
          </p:cNvGrpSpPr>
          <p:nvPr/>
        </p:nvGrpSpPr>
        <p:grpSpPr>
          <a:xfrm>
            <a:off x="5338702" y="-190500"/>
            <a:ext cx="7610596" cy="3031582"/>
            <a:chOff x="0" y="0"/>
            <a:chExt cx="10147461" cy="4042110"/>
          </a:xfrm>
        </p:grpSpPr>
        <p:sp>
          <p:nvSpPr>
            <p:cNvPr id="23" name="Freeform 2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318876">
              <a:off x="8047816" y="1939885"/>
              <a:ext cx="1823961" cy="1827283"/>
            </a:xfrm>
            <a:custGeom>
              <a:avLst/>
              <a:gdLst/>
              <a:ahLst/>
              <a:cxnLst/>
              <a:rect l="l" t="t" r="r" b="b"/>
              <a:pathLst>
                <a:path w="1823961" h="1827283">
                  <a:moveTo>
                    <a:pt x="0" y="0"/>
                  </a:moveTo>
                  <a:lnTo>
                    <a:pt x="1823961" y="0"/>
                  </a:lnTo>
                  <a:lnTo>
                    <a:pt x="1823961" y="1827283"/>
                  </a:lnTo>
                  <a:lnTo>
                    <a:pt x="0" y="1827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24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1050320">
              <a:off x="348943" y="275508"/>
              <a:ext cx="2242235" cy="2665362"/>
            </a:xfrm>
            <a:custGeom>
              <a:avLst/>
              <a:gdLst/>
              <a:ahLst/>
              <a:cxnLst/>
              <a:rect l="l" t="t" r="r" b="b"/>
              <a:pathLst>
                <a:path w="2242235" h="2665362">
                  <a:moveTo>
                    <a:pt x="0" y="0"/>
                  </a:moveTo>
                  <a:lnTo>
                    <a:pt x="2242236" y="0"/>
                  </a:lnTo>
                  <a:lnTo>
                    <a:pt x="2242236" y="2665362"/>
                  </a:lnTo>
                  <a:lnTo>
                    <a:pt x="0" y="26653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05477" y="653944"/>
              <a:ext cx="8806312" cy="32061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141"/>
                </a:lnSpc>
                <a:spcBef>
                  <a:spcPct val="0"/>
                </a:spcBef>
              </a:pPr>
              <a:r>
                <a:rPr lang="en-US" sz="16025" dirty="0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100000">
                        <a:srgbClr val="32ACC7">
                          <a:alpha val="100000"/>
                        </a:srgbClr>
                      </a:gs>
                    </a:gsLst>
                    <a:lin ang="5400000"/>
                  </a:gradFill>
                  <a:latin typeface="Tallow Sans Brush"/>
                  <a:ea typeface="Tallow Sans Brush"/>
                  <a:cs typeface="Tallow Sans Brush"/>
                  <a:sym typeface="Tallow Sans Brush"/>
                </a:rPr>
                <a:t>IDEAPOLIS</a:t>
              </a:r>
            </a:p>
          </p:txBody>
        </p:sp>
        <p:sp>
          <p:nvSpPr>
            <p:cNvPr id="26" name="TextBox 26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843788" y="3225025"/>
              <a:ext cx="6404351" cy="7247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87"/>
                </a:lnSpc>
                <a:spcBef>
                  <a:spcPct val="0"/>
                </a:spcBef>
              </a:pPr>
              <a:r>
                <a:rPr lang="en-US" sz="3205" spc="532">
                  <a:gradFill>
                    <a:gsLst>
                      <a:gs pos="0">
                        <a:srgbClr val="32ACC7">
                          <a:alpha val="100000"/>
                        </a:srgbClr>
                      </a:gs>
                      <a:gs pos="100000">
                        <a:srgbClr val="000000">
                          <a:alpha val="100000"/>
                        </a:srgbClr>
                      </a:gs>
                    </a:gsLst>
                    <a:lin ang="5400000"/>
                  </a:gradFill>
                  <a:latin typeface="Tallow Regular"/>
                  <a:ea typeface="Tallow Regular"/>
                  <a:cs typeface="Tallow Regular"/>
                  <a:sym typeface="Tallow Regular"/>
                </a:rPr>
                <a:t>IDEATE, ITERATE, INNOVATE</a:t>
              </a:r>
            </a:p>
          </p:txBody>
        </p:sp>
      </p:grpSp>
      <p:grpSp>
        <p:nvGrpSpPr>
          <p:cNvPr id="34" name="Group 15">
            <a:extLst>
              <a:ext uri="{FF2B5EF4-FFF2-40B4-BE49-F238E27FC236}">
                <a16:creationId xmlns:a16="http://schemas.microsoft.com/office/drawing/2014/main" id="{3C98D0C8-9697-696F-F8E8-703FE30E107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9588683"/>
            <a:ext cx="18288000" cy="698318"/>
            <a:chOff x="0" y="0"/>
            <a:chExt cx="24858955" cy="1590129"/>
          </a:xfrm>
        </p:grpSpPr>
        <p:grpSp>
          <p:nvGrpSpPr>
            <p:cNvPr id="35" name="Group 16">
              <a:extLst>
                <a:ext uri="{FF2B5EF4-FFF2-40B4-BE49-F238E27FC236}">
                  <a16:creationId xmlns:a16="http://schemas.microsoft.com/office/drawing/2014/main" id="{1D84A0D4-7377-90C8-2701-01F6ED5CBE0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0" y="0"/>
              <a:ext cx="24858955" cy="1590129"/>
              <a:chOff x="0" y="0"/>
              <a:chExt cx="3836258" cy="245390"/>
            </a:xfrm>
          </p:grpSpPr>
          <p:sp>
            <p:nvSpPr>
              <p:cNvPr id="39" name="Freeform 17">
                <a:extLst>
                  <a:ext uri="{FF2B5EF4-FFF2-40B4-BE49-F238E27FC236}">
                    <a16:creationId xmlns:a16="http://schemas.microsoft.com/office/drawing/2014/main" id="{E270BBBC-D682-E67D-6BA1-5677C22803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0"/>
                <a:ext cx="3836258" cy="245390"/>
              </a:xfrm>
              <a:custGeom>
                <a:avLst/>
                <a:gdLst/>
                <a:ahLst/>
                <a:cxnLst/>
                <a:rect l="l" t="t" r="r" b="b"/>
                <a:pathLst>
                  <a:path w="3836258" h="245390">
                    <a:moveTo>
                      <a:pt x="8110" y="0"/>
                    </a:moveTo>
                    <a:lnTo>
                      <a:pt x="3828148" y="0"/>
                    </a:lnTo>
                    <a:cubicBezTo>
                      <a:pt x="3830299" y="0"/>
                      <a:pt x="3832362" y="854"/>
                      <a:pt x="3833883" y="2375"/>
                    </a:cubicBezTo>
                    <a:cubicBezTo>
                      <a:pt x="3835404" y="3896"/>
                      <a:pt x="3836258" y="5959"/>
                      <a:pt x="3836258" y="8110"/>
                    </a:cubicBezTo>
                    <a:lnTo>
                      <a:pt x="3836258" y="237280"/>
                    </a:lnTo>
                    <a:cubicBezTo>
                      <a:pt x="3836258" y="239431"/>
                      <a:pt x="3835404" y="241494"/>
                      <a:pt x="3833883" y="243015"/>
                    </a:cubicBezTo>
                    <a:cubicBezTo>
                      <a:pt x="3832362" y="244536"/>
                      <a:pt x="3830299" y="245390"/>
                      <a:pt x="3828148" y="245390"/>
                    </a:cubicBezTo>
                    <a:lnTo>
                      <a:pt x="8110" y="245390"/>
                    </a:lnTo>
                    <a:cubicBezTo>
                      <a:pt x="5959" y="245390"/>
                      <a:pt x="3896" y="244536"/>
                      <a:pt x="2375" y="243015"/>
                    </a:cubicBezTo>
                    <a:cubicBezTo>
                      <a:pt x="854" y="241494"/>
                      <a:pt x="0" y="239431"/>
                      <a:pt x="0" y="237280"/>
                    </a:cubicBezTo>
                    <a:lnTo>
                      <a:pt x="0" y="8110"/>
                    </a:lnTo>
                    <a:cubicBezTo>
                      <a:pt x="0" y="5959"/>
                      <a:pt x="854" y="3896"/>
                      <a:pt x="2375" y="2375"/>
                    </a:cubicBezTo>
                    <a:cubicBezTo>
                      <a:pt x="3896" y="854"/>
                      <a:pt x="5959" y="0"/>
                      <a:pt x="8110" y="0"/>
                    </a:cubicBezTo>
                    <a:close/>
                  </a:path>
                </a:pathLst>
              </a:custGeom>
              <a:solidFill>
                <a:srgbClr val="ABD6F0"/>
              </a:solidFill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40" name="TextBox 18">
                <a:extLst>
                  <a:ext uri="{FF2B5EF4-FFF2-40B4-BE49-F238E27FC236}">
                    <a16:creationId xmlns:a16="http://schemas.microsoft.com/office/drawing/2014/main" id="{DB48B54F-47A3-053A-1ABC-BC4E87AE56AC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0"/>
                <a:ext cx="3836258" cy="2453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02"/>
                  </a:lnSpc>
                </a:pPr>
                <a:endParaRPr/>
              </a:p>
            </p:txBody>
          </p:sp>
        </p:grpSp>
        <p:sp>
          <p:nvSpPr>
            <p:cNvPr id="36" name="TextBox 19">
              <a:extLst>
                <a:ext uri="{FF2B5EF4-FFF2-40B4-BE49-F238E27FC236}">
                  <a16:creationId xmlns:a16="http://schemas.microsoft.com/office/drawing/2014/main" id="{56447E21-1A13-9437-C0AC-72CA2F6FF44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66988" y="310230"/>
              <a:ext cx="3924979" cy="7884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16"/>
                </a:lnSpc>
              </a:pPr>
              <a:r>
                <a:rPr lang="en-US" sz="2400" b="1" u="sng" dirty="0">
                  <a:solidFill>
                    <a:srgbClr val="00206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  <a:hlinkClick r:id="rId10" tooltip="https://hitk.acm.org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https://hitk.acm.org/</a:t>
              </a:r>
            </a:p>
          </p:txBody>
        </p:sp>
        <p:sp>
          <p:nvSpPr>
            <p:cNvPr id="37" name="TextBox 20">
              <a:extLst>
                <a:ext uri="{FF2B5EF4-FFF2-40B4-BE49-F238E27FC236}">
                  <a16:creationId xmlns:a16="http://schemas.microsoft.com/office/drawing/2014/main" id="{3CCD4251-26F0-AAA3-1810-C3CD62525C0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389862" y="300111"/>
              <a:ext cx="2103289" cy="7884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16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Page | 7</a:t>
              </a:r>
            </a:p>
          </p:txBody>
        </p:sp>
        <p:sp>
          <p:nvSpPr>
            <p:cNvPr id="38" name="TextBox 21">
              <a:extLst>
                <a:ext uri="{FF2B5EF4-FFF2-40B4-BE49-F238E27FC236}">
                  <a16:creationId xmlns:a16="http://schemas.microsoft.com/office/drawing/2014/main" id="{D1F05264-7139-FCCC-06C4-FCAD310FD7D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5804" y="310230"/>
              <a:ext cx="5746980" cy="7884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16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  <a:hlinkClick r:id="rId11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Heritage Institute of Technology</a:t>
              </a:r>
              <a:endParaRPr lang="en-US" sz="2400" b="1" dirty="0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Grp="1" noUngrp="1" noRot="1" noMove="1" noResize="1"/>
          </p:cNvGrpSpPr>
          <p:nvPr/>
        </p:nvGrpSpPr>
        <p:grpSpPr>
          <a:xfrm>
            <a:off x="0" y="95250"/>
            <a:ext cx="18222814" cy="1347637"/>
            <a:chOff x="0" y="0"/>
            <a:chExt cx="24297086" cy="1796849"/>
          </a:xfrm>
        </p:grpSpPr>
        <p:sp>
          <p:nvSpPr>
            <p:cNvPr id="3" name="Freeform 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748690" y="0"/>
              <a:ext cx="1548396" cy="1687785"/>
            </a:xfrm>
            <a:custGeom>
              <a:avLst/>
              <a:gdLst/>
              <a:ahLst/>
              <a:cxnLst/>
              <a:rect l="l" t="t" r="r" b="b"/>
              <a:pathLst>
                <a:path w="1548396" h="1687785">
                  <a:moveTo>
                    <a:pt x="0" y="0"/>
                  </a:moveTo>
                  <a:lnTo>
                    <a:pt x="1548396" y="0"/>
                  </a:lnTo>
                  <a:lnTo>
                    <a:pt x="1548396" y="1687785"/>
                  </a:lnTo>
                  <a:lnTo>
                    <a:pt x="0" y="1687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969" r="-4969" b="-859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630716" y="305776"/>
              <a:ext cx="4907117" cy="400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4"/>
                </a:lnSpc>
              </a:pPr>
              <a:r>
                <a:rPr lang="en-US" sz="2062" b="1" spc="-117" dirty="0">
                  <a:solidFill>
                    <a:srgbClr val="004AAD"/>
                  </a:solidFill>
                  <a:latin typeface="Mont Bold"/>
                  <a:ea typeface="Mont Bold"/>
                  <a:cs typeface="Mont Bold"/>
                  <a:sym typeface="Mont Bold"/>
                </a:rPr>
                <a:t>ACM HITK STUDENT CHAPTER</a:t>
              </a:r>
            </a:p>
          </p:txBody>
        </p:sp>
        <p:sp>
          <p:nvSpPr>
            <p:cNvPr id="5" name="TextBox 5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735916" y="781842"/>
              <a:ext cx="4696719" cy="5334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602"/>
                </a:lnSpc>
                <a:spcBef>
                  <a:spcPct val="0"/>
                </a:spcBef>
              </a:pPr>
              <a:r>
                <a:rPr lang="en-US" sz="1415" b="1">
                  <a:solidFill>
                    <a:srgbClr val="004AA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Association of Computing Machinery</a:t>
              </a:r>
            </a:p>
            <a:p>
              <a:pPr marL="0" lvl="0" indent="0" algn="ctr">
                <a:lnSpc>
                  <a:spcPts val="1602"/>
                </a:lnSpc>
                <a:spcBef>
                  <a:spcPct val="0"/>
                </a:spcBef>
              </a:pPr>
              <a:r>
                <a:rPr lang="en-US" sz="1415" b="1" u="none" strike="noStrike">
                  <a:solidFill>
                    <a:srgbClr val="004AAD"/>
                  </a:solidFill>
                  <a:latin typeface="Garet Bold"/>
                  <a:ea typeface="Garet Bold"/>
                  <a:cs typeface="Garet Bold"/>
                  <a:sym typeface="Garet Bold"/>
                </a:rPr>
                <a:t>Heritage Institute of Technology</a:t>
              </a:r>
            </a:p>
          </p:txBody>
        </p:sp>
        <p:sp>
          <p:nvSpPr>
            <p:cNvPr id="6" name="AutoShape 6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640977" y="0"/>
              <a:ext cx="0" cy="1687785"/>
            </a:xfrm>
            <a:prstGeom prst="line">
              <a:avLst/>
            </a:prstGeom>
            <a:ln w="25170" cap="flat">
              <a:solidFill>
                <a:srgbClr val="004AA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877728" cy="1796849"/>
            </a:xfrm>
            <a:custGeom>
              <a:avLst/>
              <a:gdLst/>
              <a:ahLst/>
              <a:cxnLst/>
              <a:rect l="l" t="t" r="r" b="b"/>
              <a:pathLst>
                <a:path w="1877728" h="1796849">
                  <a:moveTo>
                    <a:pt x="0" y="0"/>
                  </a:moveTo>
                  <a:lnTo>
                    <a:pt x="1877728" y="0"/>
                  </a:lnTo>
                  <a:lnTo>
                    <a:pt x="1877728" y="1796849"/>
                  </a:lnTo>
                  <a:lnTo>
                    <a:pt x="0" y="17968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6" t="-1707" b="-1131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Freeform 1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62565" y="2744785"/>
            <a:ext cx="7362871" cy="6238553"/>
          </a:xfrm>
          <a:custGeom>
            <a:avLst/>
            <a:gdLst/>
            <a:ahLst/>
            <a:cxnLst/>
            <a:rect l="l" t="t" r="r" b="b"/>
            <a:pathLst>
              <a:path w="7362871" h="6238553">
                <a:moveTo>
                  <a:pt x="0" y="0"/>
                </a:moveTo>
                <a:lnTo>
                  <a:pt x="7362870" y="0"/>
                </a:lnTo>
                <a:lnTo>
                  <a:pt x="7362870" y="6238554"/>
                </a:lnTo>
                <a:lnTo>
                  <a:pt x="0" y="62385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</a:blip>
            <a:stretch>
              <a:fillRect l="-4689" t="-11018" r="-7082" b="-20896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6" name="Group 16"/>
          <p:cNvGrpSpPr>
            <a:grpSpLocks noGrp="1" noUngrp="1" noRot="1" noMove="1" noResize="1"/>
          </p:cNvGrpSpPr>
          <p:nvPr/>
        </p:nvGrpSpPr>
        <p:grpSpPr>
          <a:xfrm>
            <a:off x="5338702" y="-190500"/>
            <a:ext cx="7610596" cy="3031582"/>
            <a:chOff x="0" y="0"/>
            <a:chExt cx="10147461" cy="4042110"/>
          </a:xfrm>
        </p:grpSpPr>
        <p:sp>
          <p:nvSpPr>
            <p:cNvPr id="17" name="Freeform 17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318876">
              <a:off x="8047816" y="1939885"/>
              <a:ext cx="1823961" cy="1827283"/>
            </a:xfrm>
            <a:custGeom>
              <a:avLst/>
              <a:gdLst/>
              <a:ahLst/>
              <a:cxnLst/>
              <a:rect l="l" t="t" r="r" b="b"/>
              <a:pathLst>
                <a:path w="1823961" h="1827283">
                  <a:moveTo>
                    <a:pt x="0" y="0"/>
                  </a:moveTo>
                  <a:lnTo>
                    <a:pt x="1823961" y="0"/>
                  </a:lnTo>
                  <a:lnTo>
                    <a:pt x="1823961" y="1827283"/>
                  </a:lnTo>
                  <a:lnTo>
                    <a:pt x="0" y="1827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1050320">
              <a:off x="348943" y="275508"/>
              <a:ext cx="2242235" cy="2665362"/>
            </a:xfrm>
            <a:custGeom>
              <a:avLst/>
              <a:gdLst/>
              <a:ahLst/>
              <a:cxnLst/>
              <a:rect l="l" t="t" r="r" b="b"/>
              <a:pathLst>
                <a:path w="2242235" h="2665362">
                  <a:moveTo>
                    <a:pt x="0" y="0"/>
                  </a:moveTo>
                  <a:lnTo>
                    <a:pt x="2242236" y="0"/>
                  </a:lnTo>
                  <a:lnTo>
                    <a:pt x="2242236" y="2665362"/>
                  </a:lnTo>
                  <a:lnTo>
                    <a:pt x="0" y="26653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05477" y="653944"/>
              <a:ext cx="8806312" cy="32061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141"/>
                </a:lnSpc>
                <a:spcBef>
                  <a:spcPct val="0"/>
                </a:spcBef>
              </a:pPr>
              <a:r>
                <a:rPr lang="en-US" sz="16025" dirty="0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100000">
                        <a:srgbClr val="32ACC7">
                          <a:alpha val="100000"/>
                        </a:srgbClr>
                      </a:gs>
                    </a:gsLst>
                    <a:lin ang="5400000"/>
                  </a:gradFill>
                  <a:latin typeface="Tallow Sans Brush"/>
                  <a:ea typeface="Tallow Sans Brush"/>
                  <a:cs typeface="Tallow Sans Brush"/>
                  <a:sym typeface="Tallow Sans Brush"/>
                </a:rPr>
                <a:t>IDEAPOLIS</a:t>
              </a:r>
            </a:p>
          </p:txBody>
        </p:sp>
        <p:sp>
          <p:nvSpPr>
            <p:cNvPr id="20" name="TextBox 20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843788" y="3225025"/>
              <a:ext cx="6404351" cy="7247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87"/>
                </a:lnSpc>
                <a:spcBef>
                  <a:spcPct val="0"/>
                </a:spcBef>
              </a:pPr>
              <a:r>
                <a:rPr lang="en-US" sz="3205" spc="532">
                  <a:gradFill>
                    <a:gsLst>
                      <a:gs pos="0">
                        <a:srgbClr val="32ACC7">
                          <a:alpha val="100000"/>
                        </a:srgbClr>
                      </a:gs>
                      <a:gs pos="100000">
                        <a:srgbClr val="000000">
                          <a:alpha val="100000"/>
                        </a:srgbClr>
                      </a:gs>
                    </a:gsLst>
                    <a:lin ang="5400000"/>
                  </a:gradFill>
                  <a:latin typeface="Tallow Regular"/>
                  <a:ea typeface="Tallow Regular"/>
                  <a:cs typeface="Tallow Regular"/>
                  <a:sym typeface="Tallow Regular"/>
                </a:rPr>
                <a:t>IDEATE, ITERATE, INNOVATE</a:t>
              </a:r>
            </a:p>
          </p:txBody>
        </p:sp>
      </p:grpSp>
      <p:sp>
        <p:nvSpPr>
          <p:cNvPr id="21" name="TextBox 2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28700" y="3916978"/>
            <a:ext cx="13241529" cy="5066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3622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Maximum </a:t>
            </a:r>
            <a:r>
              <a:rPr lang="en-US" sz="3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7 slides</a:t>
            </a: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(including the cover slide).</a:t>
            </a:r>
          </a:p>
          <a:p>
            <a:pPr marL="690881" lvl="1" indent="-345440" algn="l">
              <a:lnSpc>
                <a:spcPts val="3622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</a:t>
            </a:r>
            <a:r>
              <a:rPr lang="en-US" sz="3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concise bullet points, visuals, diagrams, and infographics; </a:t>
            </a: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avoid lengthy paragraphs.</a:t>
            </a:r>
          </a:p>
          <a:p>
            <a:pPr marL="690881" lvl="1" indent="-345440" algn="l">
              <a:lnSpc>
                <a:spcPts val="3622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idea must be </a:t>
            </a:r>
            <a:r>
              <a:rPr lang="en-US" sz="3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original, innovative</a:t>
            </a: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lang="en-US" sz="3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uniquely developed</a:t>
            </a: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 your team.</a:t>
            </a:r>
          </a:p>
          <a:p>
            <a:pPr marL="690881" lvl="1" indent="-345440" algn="l">
              <a:lnSpc>
                <a:spcPts val="3622"/>
              </a:lnSpc>
              <a:buFont typeface="Arial"/>
              <a:buChar char="•"/>
            </a:pPr>
            <a:r>
              <a:rPr lang="en-US" sz="3200" b="1" dirty="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 not tamper with the locked contents. Strictly maintain the structure.</a:t>
            </a:r>
          </a:p>
          <a:p>
            <a:pPr marL="690881" lvl="1" indent="-345440" algn="l">
              <a:lnSpc>
                <a:spcPts val="3622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 the final presentation in </a:t>
            </a:r>
            <a:r>
              <a:rPr lang="en-US" sz="3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PDF format only</a:t>
            </a: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Other formats (PPT, Word, etc.) will not be accepted.</a:t>
            </a:r>
          </a:p>
          <a:p>
            <a:pPr algn="l">
              <a:lnSpc>
                <a:spcPts val="3622"/>
              </a:lnSpc>
            </a:pPr>
            <a:endParaRPr lang="en-US" sz="3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622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Note</a:t>
            </a: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This slide is for reference only and should be removed before final submission.</a:t>
            </a:r>
          </a:p>
        </p:txBody>
      </p:sp>
      <p:sp>
        <p:nvSpPr>
          <p:cNvPr id="22" name="TextBox 2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148388" y="2850833"/>
            <a:ext cx="5991225" cy="758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73"/>
              </a:lnSpc>
              <a:spcBef>
                <a:spcPct val="0"/>
              </a:spcBef>
            </a:pPr>
            <a:r>
              <a:rPr lang="en-US" sz="5099" b="1">
                <a:solidFill>
                  <a:srgbClr val="000000">
                    <a:alpha val="69804"/>
                  </a:srgb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Important Guidelines</a:t>
            </a:r>
          </a:p>
        </p:txBody>
      </p:sp>
      <p:grpSp>
        <p:nvGrpSpPr>
          <p:cNvPr id="23" name="Group 23"/>
          <p:cNvGrpSpPr>
            <a:grpSpLocks noGrp="1" noUngrp="1" noRot="1" noMove="1" noResize="1"/>
          </p:cNvGrpSpPr>
          <p:nvPr/>
        </p:nvGrpSpPr>
        <p:grpSpPr>
          <a:xfrm>
            <a:off x="14920021" y="5864062"/>
            <a:ext cx="3236119" cy="3604112"/>
            <a:chOff x="0" y="0"/>
            <a:chExt cx="4314825" cy="4805483"/>
          </a:xfrm>
        </p:grpSpPr>
        <p:sp>
          <p:nvSpPr>
            <p:cNvPr id="24" name="Freeform 24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9380" y="0"/>
              <a:ext cx="4265445" cy="4265445"/>
            </a:xfrm>
            <a:custGeom>
              <a:avLst/>
              <a:gdLst/>
              <a:ahLst/>
              <a:cxnLst/>
              <a:rect l="l" t="t" r="r" b="b"/>
              <a:pathLst>
                <a:path w="4265445" h="4265445">
                  <a:moveTo>
                    <a:pt x="0" y="0"/>
                  </a:moveTo>
                  <a:lnTo>
                    <a:pt x="4265445" y="0"/>
                  </a:lnTo>
                  <a:lnTo>
                    <a:pt x="4265445" y="4265445"/>
                  </a:lnTo>
                  <a:lnTo>
                    <a:pt x="0" y="4265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5" name="TextBox 25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4149511"/>
              <a:ext cx="4314825" cy="6559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2"/>
                </a:lnSpc>
                <a:spcBef>
                  <a:spcPct val="0"/>
                </a:spcBef>
              </a:pPr>
              <a:r>
                <a:rPr lang="en-US" sz="3200" b="1" dirty="0">
                  <a:solidFill>
                    <a:srgbClr val="0A296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Connect With Us!!</a:t>
              </a:r>
            </a:p>
          </p:txBody>
        </p:sp>
      </p:grpSp>
      <p:grpSp>
        <p:nvGrpSpPr>
          <p:cNvPr id="26" name="Group 15">
            <a:extLst>
              <a:ext uri="{FF2B5EF4-FFF2-40B4-BE49-F238E27FC236}">
                <a16:creationId xmlns:a16="http://schemas.microsoft.com/office/drawing/2014/main" id="{D774E7B0-8256-D851-2494-C0E06E3A06D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9588683"/>
            <a:ext cx="18288000" cy="698318"/>
            <a:chOff x="0" y="0"/>
            <a:chExt cx="24858955" cy="1590129"/>
          </a:xfrm>
        </p:grpSpPr>
        <p:grpSp>
          <p:nvGrpSpPr>
            <p:cNvPr id="27" name="Group 16">
              <a:extLst>
                <a:ext uri="{FF2B5EF4-FFF2-40B4-BE49-F238E27FC236}">
                  <a16:creationId xmlns:a16="http://schemas.microsoft.com/office/drawing/2014/main" id="{596C5F35-5F92-F2A4-7A0A-0C0DC820E4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0" y="0"/>
              <a:ext cx="24858955" cy="1590129"/>
              <a:chOff x="0" y="0"/>
              <a:chExt cx="3836258" cy="245390"/>
            </a:xfrm>
          </p:grpSpPr>
          <p:sp>
            <p:nvSpPr>
              <p:cNvPr id="31" name="Freeform 17">
                <a:extLst>
                  <a:ext uri="{FF2B5EF4-FFF2-40B4-BE49-F238E27FC236}">
                    <a16:creationId xmlns:a16="http://schemas.microsoft.com/office/drawing/2014/main" id="{7391F7FF-DCB6-4B12-A9C8-A890775EE6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0"/>
                <a:ext cx="3836258" cy="245390"/>
              </a:xfrm>
              <a:custGeom>
                <a:avLst/>
                <a:gdLst/>
                <a:ahLst/>
                <a:cxnLst/>
                <a:rect l="l" t="t" r="r" b="b"/>
                <a:pathLst>
                  <a:path w="3836258" h="245390">
                    <a:moveTo>
                      <a:pt x="8110" y="0"/>
                    </a:moveTo>
                    <a:lnTo>
                      <a:pt x="3828148" y="0"/>
                    </a:lnTo>
                    <a:cubicBezTo>
                      <a:pt x="3830299" y="0"/>
                      <a:pt x="3832362" y="854"/>
                      <a:pt x="3833883" y="2375"/>
                    </a:cubicBezTo>
                    <a:cubicBezTo>
                      <a:pt x="3835404" y="3896"/>
                      <a:pt x="3836258" y="5959"/>
                      <a:pt x="3836258" y="8110"/>
                    </a:cubicBezTo>
                    <a:lnTo>
                      <a:pt x="3836258" y="237280"/>
                    </a:lnTo>
                    <a:cubicBezTo>
                      <a:pt x="3836258" y="239431"/>
                      <a:pt x="3835404" y="241494"/>
                      <a:pt x="3833883" y="243015"/>
                    </a:cubicBezTo>
                    <a:cubicBezTo>
                      <a:pt x="3832362" y="244536"/>
                      <a:pt x="3830299" y="245390"/>
                      <a:pt x="3828148" y="245390"/>
                    </a:cubicBezTo>
                    <a:lnTo>
                      <a:pt x="8110" y="245390"/>
                    </a:lnTo>
                    <a:cubicBezTo>
                      <a:pt x="5959" y="245390"/>
                      <a:pt x="3896" y="244536"/>
                      <a:pt x="2375" y="243015"/>
                    </a:cubicBezTo>
                    <a:cubicBezTo>
                      <a:pt x="854" y="241494"/>
                      <a:pt x="0" y="239431"/>
                      <a:pt x="0" y="237280"/>
                    </a:cubicBezTo>
                    <a:lnTo>
                      <a:pt x="0" y="8110"/>
                    </a:lnTo>
                    <a:cubicBezTo>
                      <a:pt x="0" y="5959"/>
                      <a:pt x="854" y="3896"/>
                      <a:pt x="2375" y="2375"/>
                    </a:cubicBezTo>
                    <a:cubicBezTo>
                      <a:pt x="3896" y="854"/>
                      <a:pt x="5959" y="0"/>
                      <a:pt x="8110" y="0"/>
                    </a:cubicBezTo>
                    <a:close/>
                  </a:path>
                </a:pathLst>
              </a:custGeom>
              <a:solidFill>
                <a:srgbClr val="ABD6F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TextBox 18">
                <a:extLst>
                  <a:ext uri="{FF2B5EF4-FFF2-40B4-BE49-F238E27FC236}">
                    <a16:creationId xmlns:a16="http://schemas.microsoft.com/office/drawing/2014/main" id="{539DA0A5-A6EF-CF04-69ED-A6D21880763F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0"/>
                <a:ext cx="3836258" cy="2453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02"/>
                  </a:lnSpc>
                </a:pPr>
                <a:endParaRPr/>
              </a:p>
            </p:txBody>
          </p:sp>
        </p:grpSp>
        <p:sp>
          <p:nvSpPr>
            <p:cNvPr id="28" name="TextBox 19">
              <a:extLst>
                <a:ext uri="{FF2B5EF4-FFF2-40B4-BE49-F238E27FC236}">
                  <a16:creationId xmlns:a16="http://schemas.microsoft.com/office/drawing/2014/main" id="{CCD6FA1F-08CB-E759-FF4E-956BB713F71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466988" y="310230"/>
              <a:ext cx="3924979" cy="7884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16"/>
                </a:lnSpc>
              </a:pPr>
              <a:r>
                <a:rPr lang="en-US" sz="2400" b="1" u="sng" dirty="0">
                  <a:solidFill>
                    <a:srgbClr val="00206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  <a:hlinkClick r:id="rId9" tooltip="https://hitk.acm.org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https://hitk.acm.org/</a:t>
              </a:r>
            </a:p>
          </p:txBody>
        </p:sp>
        <p:sp>
          <p:nvSpPr>
            <p:cNvPr id="29" name="TextBox 20">
              <a:extLst>
                <a:ext uri="{FF2B5EF4-FFF2-40B4-BE49-F238E27FC236}">
                  <a16:creationId xmlns:a16="http://schemas.microsoft.com/office/drawing/2014/main" id="{A0453797-BC8B-9A0A-E42D-4E5B794C485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389862" y="300111"/>
              <a:ext cx="2103289" cy="7884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16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Page | 8</a:t>
              </a:r>
            </a:p>
          </p:txBody>
        </p:sp>
        <p:sp>
          <p:nvSpPr>
            <p:cNvPr id="30" name="TextBox 21">
              <a:extLst>
                <a:ext uri="{FF2B5EF4-FFF2-40B4-BE49-F238E27FC236}">
                  <a16:creationId xmlns:a16="http://schemas.microsoft.com/office/drawing/2014/main" id="{42961744-0CD6-57FA-7A6F-704971AA109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5804" y="310230"/>
              <a:ext cx="5746980" cy="7884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16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  <a:hlinkClick r:id="rId10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Heritage Institute of Technology</a:t>
              </a:r>
              <a:endParaRPr lang="en-US" sz="2400" b="1" dirty="0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703</Words>
  <Application>Microsoft Office PowerPoint</Application>
  <PresentationFormat>Custom</PresentationFormat>
  <Paragraphs>111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Garet Bold</vt:lpstr>
      <vt:lpstr>Times New Roman Bold</vt:lpstr>
      <vt:lpstr>Aptos</vt:lpstr>
      <vt:lpstr>Tallow Sans Brush</vt:lpstr>
      <vt:lpstr>Tallow Regular</vt:lpstr>
      <vt:lpstr>Times New Roman</vt:lpstr>
      <vt:lpstr>Calibri</vt:lpstr>
      <vt:lpstr>Arial</vt:lpstr>
      <vt:lpstr>Mont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Innovista'26</dc:title>
  <cp:lastModifiedBy>ARYAN GHOSH</cp:lastModifiedBy>
  <cp:revision>5</cp:revision>
  <dcterms:created xsi:type="dcterms:W3CDTF">2006-08-16T00:00:00Z</dcterms:created>
  <dcterms:modified xsi:type="dcterms:W3CDTF">2026-03-05T21:38:35Z</dcterms:modified>
  <dc:identifier>DAHDE1kNsnI</dc:identifier>
</cp:coreProperties>
</file>